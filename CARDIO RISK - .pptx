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7" r:id="rId10"/>
    <p:sldId id="268" r:id="rId11"/>
    <p:sldId id="269" r:id="rId12"/>
    <p:sldId id="270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32" autoAdjust="0"/>
    <p:restoredTop sz="94692"/>
  </p:normalViewPr>
  <p:slideViewPr>
    <p:cSldViewPr snapToGrid="0">
      <p:cViewPr varScale="1">
        <p:scale>
          <a:sx n="114" d="100"/>
          <a:sy n="114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E12D84-0D0C-4E95-8584-E8A953AD9A0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52A9A1-194D-4C3C-949E-783334B33119}">
      <dgm:prSet/>
      <dgm:spPr/>
      <dgm:t>
        <a:bodyPr/>
        <a:lstStyle/>
        <a:p>
          <a:r>
            <a:rPr lang="en-IN"/>
            <a:t>Models:</a:t>
          </a:r>
          <a:endParaRPr lang="en-US"/>
        </a:p>
      </dgm:t>
    </dgm:pt>
    <dgm:pt modelId="{A73A5066-3993-4B8C-A898-436EED589958}" type="parTrans" cxnId="{A66D8C45-13AB-4C47-B1F7-722DFCAC9344}">
      <dgm:prSet/>
      <dgm:spPr/>
      <dgm:t>
        <a:bodyPr/>
        <a:lstStyle/>
        <a:p>
          <a:endParaRPr lang="en-US"/>
        </a:p>
      </dgm:t>
    </dgm:pt>
    <dgm:pt modelId="{0D90EB4A-3638-4483-89D6-4024588FFF3D}" type="sibTrans" cxnId="{A66D8C45-13AB-4C47-B1F7-722DFCAC9344}">
      <dgm:prSet/>
      <dgm:spPr/>
      <dgm:t>
        <a:bodyPr/>
        <a:lstStyle/>
        <a:p>
          <a:endParaRPr lang="en-US"/>
        </a:p>
      </dgm:t>
    </dgm:pt>
    <dgm:pt modelId="{409CBC36-0EF9-49AE-943D-827767A13517}">
      <dgm:prSet/>
      <dgm:spPr/>
      <dgm:t>
        <a:bodyPr/>
        <a:lstStyle/>
        <a:p>
          <a:r>
            <a:rPr lang="en-IN"/>
            <a:t>• ExplainableBoostingClassifier (interpretable boosting model)</a:t>
          </a:r>
          <a:endParaRPr lang="en-US"/>
        </a:p>
      </dgm:t>
    </dgm:pt>
    <dgm:pt modelId="{082F3F5D-2128-4DA9-9338-874755AB2B03}" type="parTrans" cxnId="{4A7B8EF5-28E0-46BC-AD44-1F692D1379AA}">
      <dgm:prSet/>
      <dgm:spPr/>
      <dgm:t>
        <a:bodyPr/>
        <a:lstStyle/>
        <a:p>
          <a:endParaRPr lang="en-US"/>
        </a:p>
      </dgm:t>
    </dgm:pt>
    <dgm:pt modelId="{35575F1D-EC45-4EBE-BAEC-72725BE8CA43}" type="sibTrans" cxnId="{4A7B8EF5-28E0-46BC-AD44-1F692D1379AA}">
      <dgm:prSet/>
      <dgm:spPr/>
      <dgm:t>
        <a:bodyPr/>
        <a:lstStyle/>
        <a:p>
          <a:endParaRPr lang="en-US"/>
        </a:p>
      </dgm:t>
    </dgm:pt>
    <dgm:pt modelId="{42E433CB-D4C7-4811-B3AE-35F4BD0CF157}">
      <dgm:prSet/>
      <dgm:spPr/>
      <dgm:t>
        <a:bodyPr/>
        <a:lstStyle/>
        <a:p>
          <a:r>
            <a:rPr lang="en-IN"/>
            <a:t>• XGBClassifier (gradient boosted trees) with SHAP explanations</a:t>
          </a:r>
          <a:endParaRPr lang="en-US"/>
        </a:p>
      </dgm:t>
    </dgm:pt>
    <dgm:pt modelId="{6B8F132D-4CD6-4B4B-8A2A-B84E478A10B7}" type="parTrans" cxnId="{6DAE1F2B-C35D-494F-B121-65956D3095BB}">
      <dgm:prSet/>
      <dgm:spPr/>
      <dgm:t>
        <a:bodyPr/>
        <a:lstStyle/>
        <a:p>
          <a:endParaRPr lang="en-US"/>
        </a:p>
      </dgm:t>
    </dgm:pt>
    <dgm:pt modelId="{76B8E138-479E-4A39-AD3F-11A702AC3111}" type="sibTrans" cxnId="{6DAE1F2B-C35D-494F-B121-65956D3095BB}">
      <dgm:prSet/>
      <dgm:spPr/>
      <dgm:t>
        <a:bodyPr/>
        <a:lstStyle/>
        <a:p>
          <a:endParaRPr lang="en-US"/>
        </a:p>
      </dgm:t>
    </dgm:pt>
    <dgm:pt modelId="{66CFB9E0-ED44-4BA7-8AC0-4C6E58AB8B34}">
      <dgm:prSet/>
      <dgm:spPr/>
      <dgm:t>
        <a:bodyPr/>
        <a:lstStyle/>
        <a:p>
          <a:r>
            <a:rPr lang="en-IN"/>
            <a:t>Metrics (per seed): accuracy, ROC-AUC, F1, precision, recall, confusion matrix, and Brier score.</a:t>
          </a:r>
          <a:endParaRPr lang="en-US"/>
        </a:p>
      </dgm:t>
    </dgm:pt>
    <dgm:pt modelId="{BC466CB2-826C-48BC-9B36-EEA334BB58D6}" type="parTrans" cxnId="{AE3859B9-370F-4AA9-8D28-9DFCE86B2585}">
      <dgm:prSet/>
      <dgm:spPr/>
      <dgm:t>
        <a:bodyPr/>
        <a:lstStyle/>
        <a:p>
          <a:endParaRPr lang="en-US"/>
        </a:p>
      </dgm:t>
    </dgm:pt>
    <dgm:pt modelId="{F6CFCC60-6622-458A-BB61-6F5ECC7564D7}" type="sibTrans" cxnId="{AE3859B9-370F-4AA9-8D28-9DFCE86B2585}">
      <dgm:prSet/>
      <dgm:spPr/>
      <dgm:t>
        <a:bodyPr/>
        <a:lstStyle/>
        <a:p>
          <a:endParaRPr lang="en-US"/>
        </a:p>
      </dgm:t>
    </dgm:pt>
    <dgm:pt modelId="{28459084-2F31-4A72-A1C1-B3B17B886E57}">
      <dgm:prSet/>
      <dgm:spPr/>
      <dgm:t>
        <a:bodyPr/>
        <a:lstStyle/>
        <a:p>
          <a:r>
            <a:rPr lang="en-IN"/>
            <a:t>Stability: Repeat training for N_SEEDS times, compute global feature importance for each run, then:</a:t>
          </a:r>
          <a:br>
            <a:rPr lang="en-IN"/>
          </a:br>
          <a:r>
            <a:rPr lang="en-IN"/>
            <a:t>• Measure variance of importance per feature</a:t>
          </a:r>
          <a:br>
            <a:rPr lang="en-IN"/>
          </a:br>
          <a:endParaRPr lang="en-US"/>
        </a:p>
      </dgm:t>
    </dgm:pt>
    <dgm:pt modelId="{AA10BFA0-CDF6-4C0F-B29B-1C1DA8B222ED}" type="parTrans" cxnId="{27DB80A6-775D-49A5-8ACA-3B0AE48E17BB}">
      <dgm:prSet/>
      <dgm:spPr/>
      <dgm:t>
        <a:bodyPr/>
        <a:lstStyle/>
        <a:p>
          <a:endParaRPr lang="en-US"/>
        </a:p>
      </dgm:t>
    </dgm:pt>
    <dgm:pt modelId="{0C974F50-0822-4292-B90A-37532CF80BDE}" type="sibTrans" cxnId="{27DB80A6-775D-49A5-8ACA-3B0AE48E17BB}">
      <dgm:prSet/>
      <dgm:spPr/>
      <dgm:t>
        <a:bodyPr/>
        <a:lstStyle/>
        <a:p>
          <a:endParaRPr lang="en-US"/>
        </a:p>
      </dgm:t>
    </dgm:pt>
    <dgm:pt modelId="{E0D5EF62-F1CC-4787-8471-38E69AEB99F8}" type="pres">
      <dgm:prSet presAssocID="{30E12D84-0D0C-4E95-8584-E8A953AD9A0C}" presName="linear" presStyleCnt="0">
        <dgm:presLayoutVars>
          <dgm:animLvl val="lvl"/>
          <dgm:resizeHandles val="exact"/>
        </dgm:presLayoutVars>
      </dgm:prSet>
      <dgm:spPr/>
    </dgm:pt>
    <dgm:pt modelId="{E25356EB-F548-407C-8436-A984D71E166D}" type="pres">
      <dgm:prSet presAssocID="{0B52A9A1-194D-4C3C-949E-783334B3311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92889A9-C0E6-441B-B89C-8537B5D661FA}" type="pres">
      <dgm:prSet presAssocID="{0D90EB4A-3638-4483-89D6-4024588FFF3D}" presName="spacer" presStyleCnt="0"/>
      <dgm:spPr/>
    </dgm:pt>
    <dgm:pt modelId="{FF4AAFB9-FCEA-4E10-8611-132B9FCEF034}" type="pres">
      <dgm:prSet presAssocID="{409CBC36-0EF9-49AE-943D-827767A1351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6C5D3A1-2136-41DC-A86B-253899AC3581}" type="pres">
      <dgm:prSet presAssocID="{35575F1D-EC45-4EBE-BAEC-72725BE8CA43}" presName="spacer" presStyleCnt="0"/>
      <dgm:spPr/>
    </dgm:pt>
    <dgm:pt modelId="{F9423F0A-E4B4-4AA4-8791-2B812BBCC965}" type="pres">
      <dgm:prSet presAssocID="{42E433CB-D4C7-4811-B3AE-35F4BD0CF15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6EB995E-E676-4F59-B9E1-8950E3F77A0F}" type="pres">
      <dgm:prSet presAssocID="{42E433CB-D4C7-4811-B3AE-35F4BD0CF15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19CDA11-E2AD-457C-84B3-AA70CDD42067}" type="presOf" srcId="{42E433CB-D4C7-4811-B3AE-35F4BD0CF157}" destId="{F9423F0A-E4B4-4AA4-8791-2B812BBCC965}" srcOrd="0" destOrd="0" presId="urn:microsoft.com/office/officeart/2005/8/layout/vList2"/>
    <dgm:cxn modelId="{6DAE1F2B-C35D-494F-B121-65956D3095BB}" srcId="{30E12D84-0D0C-4E95-8584-E8A953AD9A0C}" destId="{42E433CB-D4C7-4811-B3AE-35F4BD0CF157}" srcOrd="2" destOrd="0" parTransId="{6B8F132D-4CD6-4B4B-8A2A-B84E478A10B7}" sibTransId="{76B8E138-479E-4A39-AD3F-11A702AC3111}"/>
    <dgm:cxn modelId="{A66D8C45-13AB-4C47-B1F7-722DFCAC9344}" srcId="{30E12D84-0D0C-4E95-8584-E8A953AD9A0C}" destId="{0B52A9A1-194D-4C3C-949E-783334B33119}" srcOrd="0" destOrd="0" parTransId="{A73A5066-3993-4B8C-A898-436EED589958}" sibTransId="{0D90EB4A-3638-4483-89D6-4024588FFF3D}"/>
    <dgm:cxn modelId="{B5579D70-3B87-43D5-92D2-5562E9A1A66B}" type="presOf" srcId="{0B52A9A1-194D-4C3C-949E-783334B33119}" destId="{E25356EB-F548-407C-8436-A984D71E166D}" srcOrd="0" destOrd="0" presId="urn:microsoft.com/office/officeart/2005/8/layout/vList2"/>
    <dgm:cxn modelId="{1F6A6B8E-6C8E-4801-B9E9-A0CA9CF50674}" type="presOf" srcId="{30E12D84-0D0C-4E95-8584-E8A953AD9A0C}" destId="{E0D5EF62-F1CC-4787-8471-38E69AEB99F8}" srcOrd="0" destOrd="0" presId="urn:microsoft.com/office/officeart/2005/8/layout/vList2"/>
    <dgm:cxn modelId="{C8D4DB9A-58BD-4C08-98F5-37400B91B581}" type="presOf" srcId="{409CBC36-0EF9-49AE-943D-827767A13517}" destId="{FF4AAFB9-FCEA-4E10-8611-132B9FCEF034}" srcOrd="0" destOrd="0" presId="urn:microsoft.com/office/officeart/2005/8/layout/vList2"/>
    <dgm:cxn modelId="{27DB80A6-775D-49A5-8ACA-3B0AE48E17BB}" srcId="{42E433CB-D4C7-4811-B3AE-35F4BD0CF157}" destId="{28459084-2F31-4A72-A1C1-B3B17B886E57}" srcOrd="1" destOrd="0" parTransId="{AA10BFA0-CDF6-4C0F-B29B-1C1DA8B222ED}" sibTransId="{0C974F50-0822-4292-B90A-37532CF80BDE}"/>
    <dgm:cxn modelId="{F29410A7-4132-492B-87E5-FF9B62A014A7}" type="presOf" srcId="{66CFB9E0-ED44-4BA7-8AC0-4C6E58AB8B34}" destId="{B6EB995E-E676-4F59-B9E1-8950E3F77A0F}" srcOrd="0" destOrd="0" presId="urn:microsoft.com/office/officeart/2005/8/layout/vList2"/>
    <dgm:cxn modelId="{AE3859B9-370F-4AA9-8D28-9DFCE86B2585}" srcId="{42E433CB-D4C7-4811-B3AE-35F4BD0CF157}" destId="{66CFB9E0-ED44-4BA7-8AC0-4C6E58AB8B34}" srcOrd="0" destOrd="0" parTransId="{BC466CB2-826C-48BC-9B36-EEA334BB58D6}" sibTransId="{F6CFCC60-6622-458A-BB61-6F5ECC7564D7}"/>
    <dgm:cxn modelId="{1C45E8D4-9F49-45CF-A4E8-CA22C0D8AFBE}" type="presOf" srcId="{28459084-2F31-4A72-A1C1-B3B17B886E57}" destId="{B6EB995E-E676-4F59-B9E1-8950E3F77A0F}" srcOrd="0" destOrd="1" presId="urn:microsoft.com/office/officeart/2005/8/layout/vList2"/>
    <dgm:cxn modelId="{4A7B8EF5-28E0-46BC-AD44-1F692D1379AA}" srcId="{30E12D84-0D0C-4E95-8584-E8A953AD9A0C}" destId="{409CBC36-0EF9-49AE-943D-827767A13517}" srcOrd="1" destOrd="0" parTransId="{082F3F5D-2128-4DA9-9338-874755AB2B03}" sibTransId="{35575F1D-EC45-4EBE-BAEC-72725BE8CA43}"/>
    <dgm:cxn modelId="{3B4F5917-70DD-471E-95A3-99037D2C217D}" type="presParOf" srcId="{E0D5EF62-F1CC-4787-8471-38E69AEB99F8}" destId="{E25356EB-F548-407C-8436-A984D71E166D}" srcOrd="0" destOrd="0" presId="urn:microsoft.com/office/officeart/2005/8/layout/vList2"/>
    <dgm:cxn modelId="{D98A5ED5-BCE5-465B-A135-C9B69D16E39F}" type="presParOf" srcId="{E0D5EF62-F1CC-4787-8471-38E69AEB99F8}" destId="{492889A9-C0E6-441B-B89C-8537B5D661FA}" srcOrd="1" destOrd="0" presId="urn:microsoft.com/office/officeart/2005/8/layout/vList2"/>
    <dgm:cxn modelId="{AAE76643-0BC1-4A7A-AE64-0A4DDDD9B9C7}" type="presParOf" srcId="{E0D5EF62-F1CC-4787-8471-38E69AEB99F8}" destId="{FF4AAFB9-FCEA-4E10-8611-132B9FCEF034}" srcOrd="2" destOrd="0" presId="urn:microsoft.com/office/officeart/2005/8/layout/vList2"/>
    <dgm:cxn modelId="{7C25550B-2946-4787-AD40-2D39DA6788D7}" type="presParOf" srcId="{E0D5EF62-F1CC-4787-8471-38E69AEB99F8}" destId="{E6C5D3A1-2136-41DC-A86B-253899AC3581}" srcOrd="3" destOrd="0" presId="urn:microsoft.com/office/officeart/2005/8/layout/vList2"/>
    <dgm:cxn modelId="{478C5E52-EE49-4CCD-A798-E95CABC0B4EC}" type="presParOf" srcId="{E0D5EF62-F1CC-4787-8471-38E69AEB99F8}" destId="{F9423F0A-E4B4-4AA4-8791-2B812BBCC965}" srcOrd="4" destOrd="0" presId="urn:microsoft.com/office/officeart/2005/8/layout/vList2"/>
    <dgm:cxn modelId="{A1A21DD0-6F18-455F-9F4C-879DAB55D993}" type="presParOf" srcId="{E0D5EF62-F1CC-4787-8471-38E69AEB99F8}" destId="{B6EB995E-E676-4F59-B9E1-8950E3F77A0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3D59F3-A28A-4029-8FF3-45010881F05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B5AA524-EF4A-4A91-B11D-9E0FA3674A97}">
      <dgm:prSet/>
      <dgm:spPr/>
      <dgm:t>
        <a:bodyPr/>
        <a:lstStyle/>
        <a:p>
          <a:r>
            <a:rPr lang="en-US"/>
            <a:t>XGBoost+SHAP - features with HIGHEST variance (least stable) </a:t>
          </a:r>
        </a:p>
      </dgm:t>
    </dgm:pt>
    <dgm:pt modelId="{6A8014C6-DCCC-429B-8F97-C8CCFCCE2442}" type="parTrans" cxnId="{B9B2EA50-5BB5-4122-97C0-316F7EAC0C96}">
      <dgm:prSet/>
      <dgm:spPr/>
      <dgm:t>
        <a:bodyPr/>
        <a:lstStyle/>
        <a:p>
          <a:endParaRPr lang="en-US"/>
        </a:p>
      </dgm:t>
    </dgm:pt>
    <dgm:pt modelId="{E65FF620-2E6D-4F65-8A61-D8F4FB04004D}" type="sibTrans" cxnId="{B9B2EA50-5BB5-4122-97C0-316F7EAC0C96}">
      <dgm:prSet/>
      <dgm:spPr/>
      <dgm:t>
        <a:bodyPr/>
        <a:lstStyle/>
        <a:p>
          <a:endParaRPr lang="en-US"/>
        </a:p>
      </dgm:t>
    </dgm:pt>
    <dgm:pt modelId="{95BC7CD7-BDF4-4B3A-B3AD-404200491D59}">
      <dgm:prSet/>
      <dgm:spPr/>
      <dgm:t>
        <a:bodyPr/>
        <a:lstStyle/>
        <a:p>
          <a:r>
            <a:rPr lang="en-US"/>
            <a:t>feature	variance_across_seeds</a:t>
          </a:r>
        </a:p>
      </dgm:t>
    </dgm:pt>
    <dgm:pt modelId="{AD6C5227-0799-403D-9DE5-58583161BE8F}" type="parTrans" cxnId="{81856483-5B27-49E8-A53B-1F8BFFA9163B}">
      <dgm:prSet/>
      <dgm:spPr/>
      <dgm:t>
        <a:bodyPr/>
        <a:lstStyle/>
        <a:p>
          <a:endParaRPr lang="en-US"/>
        </a:p>
      </dgm:t>
    </dgm:pt>
    <dgm:pt modelId="{FDB6BF16-32BE-445C-A77F-0176B6783E51}" type="sibTrans" cxnId="{81856483-5B27-49E8-A53B-1F8BFFA9163B}">
      <dgm:prSet/>
      <dgm:spPr/>
      <dgm:t>
        <a:bodyPr/>
        <a:lstStyle/>
        <a:p>
          <a:endParaRPr lang="en-US"/>
        </a:p>
      </dgm:t>
    </dgm:pt>
    <dgm:pt modelId="{40301123-329D-4F1C-ADC4-E54512D81389}">
      <dgm:prSet/>
      <dgm:spPr/>
      <dgm:t>
        <a:bodyPr/>
        <a:lstStyle/>
        <a:p>
          <a:r>
            <a:rPr lang="en-US"/>
            <a:t>9	active	1.207692e-07</a:t>
          </a:r>
        </a:p>
      </dgm:t>
    </dgm:pt>
    <dgm:pt modelId="{E0AA93D6-FB77-443E-804C-36B6D4690641}" type="parTrans" cxnId="{42CFA735-1FFD-4515-ABF5-8D8FCC488F38}">
      <dgm:prSet/>
      <dgm:spPr/>
      <dgm:t>
        <a:bodyPr/>
        <a:lstStyle/>
        <a:p>
          <a:endParaRPr lang="en-US"/>
        </a:p>
      </dgm:t>
    </dgm:pt>
    <dgm:pt modelId="{4B8AF20E-2707-46B1-BA04-93FC3BCAA5BA}" type="sibTrans" cxnId="{42CFA735-1FFD-4515-ABF5-8D8FCC488F38}">
      <dgm:prSet/>
      <dgm:spPr/>
      <dgm:t>
        <a:bodyPr/>
        <a:lstStyle/>
        <a:p>
          <a:endParaRPr lang="en-US"/>
        </a:p>
      </dgm:t>
    </dgm:pt>
    <dgm:pt modelId="{B79FA39A-C0FE-4BFA-BBDB-038FF2ABCF3C}">
      <dgm:prSet/>
      <dgm:spPr/>
      <dgm:t>
        <a:bodyPr/>
        <a:lstStyle/>
        <a:p>
          <a:r>
            <a:rPr lang="en-US"/>
            <a:t>6	gluc	1.262253e-07</a:t>
          </a:r>
        </a:p>
      </dgm:t>
    </dgm:pt>
    <dgm:pt modelId="{22EEF361-45D5-4CD8-8D41-9DE5BB2FCBD3}" type="parTrans" cxnId="{EEABEE8E-1432-453C-AF54-0E1D476F4EA6}">
      <dgm:prSet/>
      <dgm:spPr/>
      <dgm:t>
        <a:bodyPr/>
        <a:lstStyle/>
        <a:p>
          <a:endParaRPr lang="en-US"/>
        </a:p>
      </dgm:t>
    </dgm:pt>
    <dgm:pt modelId="{40FD6A9F-6E1E-4248-A7A4-47E6A2EC86D8}" type="sibTrans" cxnId="{EEABEE8E-1432-453C-AF54-0E1D476F4EA6}">
      <dgm:prSet/>
      <dgm:spPr/>
      <dgm:t>
        <a:bodyPr/>
        <a:lstStyle/>
        <a:p>
          <a:endParaRPr lang="en-US"/>
        </a:p>
      </dgm:t>
    </dgm:pt>
    <dgm:pt modelId="{43439456-7841-424E-8F87-08803B2A1B52}">
      <dgm:prSet/>
      <dgm:spPr/>
      <dgm:t>
        <a:bodyPr/>
        <a:lstStyle/>
        <a:p>
          <a:r>
            <a:rPr lang="en-US"/>
            <a:t>0	gender	3.298869e-07</a:t>
          </a:r>
        </a:p>
      </dgm:t>
    </dgm:pt>
    <dgm:pt modelId="{09C69F5F-C1C0-4B5D-9823-C50A11A8CE75}" type="parTrans" cxnId="{8B5E1587-C66D-499E-A7F2-A2C2ED9CD0E0}">
      <dgm:prSet/>
      <dgm:spPr/>
      <dgm:t>
        <a:bodyPr/>
        <a:lstStyle/>
        <a:p>
          <a:endParaRPr lang="en-US"/>
        </a:p>
      </dgm:t>
    </dgm:pt>
    <dgm:pt modelId="{F406B81C-BC50-4BE0-B108-D7E5C1A87DE1}" type="sibTrans" cxnId="{8B5E1587-C66D-499E-A7F2-A2C2ED9CD0E0}">
      <dgm:prSet/>
      <dgm:spPr/>
      <dgm:t>
        <a:bodyPr/>
        <a:lstStyle/>
        <a:p>
          <a:endParaRPr lang="en-US"/>
        </a:p>
      </dgm:t>
    </dgm:pt>
    <dgm:pt modelId="{45637655-E61E-4B86-8BF3-01FEB269F769}">
      <dgm:prSet/>
      <dgm:spPr/>
      <dgm:t>
        <a:bodyPr/>
        <a:lstStyle/>
        <a:p>
          <a:r>
            <a:rPr lang="en-US"/>
            <a:t>5	cholesterol	8.279221e-07</a:t>
          </a:r>
        </a:p>
      </dgm:t>
    </dgm:pt>
    <dgm:pt modelId="{816018F3-D7A3-4617-98FA-01202F487F35}" type="parTrans" cxnId="{6DD38154-5441-40BC-883C-00B3DE9B3A5C}">
      <dgm:prSet/>
      <dgm:spPr/>
      <dgm:t>
        <a:bodyPr/>
        <a:lstStyle/>
        <a:p>
          <a:endParaRPr lang="en-US"/>
        </a:p>
      </dgm:t>
    </dgm:pt>
    <dgm:pt modelId="{B3FBD916-E655-4010-B9F8-7DB6066C6AE8}" type="sibTrans" cxnId="{6DD38154-5441-40BC-883C-00B3DE9B3A5C}">
      <dgm:prSet/>
      <dgm:spPr/>
      <dgm:t>
        <a:bodyPr/>
        <a:lstStyle/>
        <a:p>
          <a:endParaRPr lang="en-US"/>
        </a:p>
      </dgm:t>
    </dgm:pt>
    <dgm:pt modelId="{D2C540A9-52A4-49B8-85D7-16374EA29099}">
      <dgm:prSet/>
      <dgm:spPr/>
      <dgm:t>
        <a:bodyPr/>
        <a:lstStyle/>
        <a:p>
          <a:r>
            <a:rPr lang="en-US"/>
            <a:t>1	height	9.729462e-07</a:t>
          </a:r>
        </a:p>
      </dgm:t>
    </dgm:pt>
    <dgm:pt modelId="{03D2A8CC-9FA5-4D3D-976A-4C3F52FD107C}" type="parTrans" cxnId="{D0D58942-38BE-4373-8443-8FAAE762DF25}">
      <dgm:prSet/>
      <dgm:spPr/>
      <dgm:t>
        <a:bodyPr/>
        <a:lstStyle/>
        <a:p>
          <a:endParaRPr lang="en-US"/>
        </a:p>
      </dgm:t>
    </dgm:pt>
    <dgm:pt modelId="{BAC6BA0F-2609-47E9-A701-4FB4B414A682}" type="sibTrans" cxnId="{D0D58942-38BE-4373-8443-8FAAE762DF25}">
      <dgm:prSet/>
      <dgm:spPr/>
      <dgm:t>
        <a:bodyPr/>
        <a:lstStyle/>
        <a:p>
          <a:endParaRPr lang="en-US"/>
        </a:p>
      </dgm:t>
    </dgm:pt>
    <dgm:pt modelId="{CA8A0DE1-ED0E-4DA0-B8E7-28ACCF8BE4ED}">
      <dgm:prSet/>
      <dgm:spPr/>
      <dgm:t>
        <a:bodyPr/>
        <a:lstStyle/>
        <a:p>
          <a:r>
            <a:rPr lang="en-US"/>
            <a:t>10	age_years	1.168913e-06</a:t>
          </a:r>
        </a:p>
      </dgm:t>
    </dgm:pt>
    <dgm:pt modelId="{122614E1-F8E0-43BD-8AC7-647986D01D08}" type="parTrans" cxnId="{714584B4-6DF2-48BE-A410-8C29BB146C7B}">
      <dgm:prSet/>
      <dgm:spPr/>
      <dgm:t>
        <a:bodyPr/>
        <a:lstStyle/>
        <a:p>
          <a:endParaRPr lang="en-US"/>
        </a:p>
      </dgm:t>
    </dgm:pt>
    <dgm:pt modelId="{B0C79AFC-6741-4FA9-9AD9-D1446CB25259}" type="sibTrans" cxnId="{714584B4-6DF2-48BE-A410-8C29BB146C7B}">
      <dgm:prSet/>
      <dgm:spPr/>
      <dgm:t>
        <a:bodyPr/>
        <a:lstStyle/>
        <a:p>
          <a:endParaRPr lang="en-US"/>
        </a:p>
      </dgm:t>
    </dgm:pt>
    <dgm:pt modelId="{3D4C8000-7430-411F-8AA4-6ED87F9455AD}">
      <dgm:prSet/>
      <dgm:spPr/>
      <dgm:t>
        <a:bodyPr/>
        <a:lstStyle/>
        <a:p>
          <a:r>
            <a:rPr lang="en-US"/>
            <a:t>11	BMI	2.827599e-06</a:t>
          </a:r>
        </a:p>
      </dgm:t>
    </dgm:pt>
    <dgm:pt modelId="{04CCC486-232D-4152-9061-03FF8D317E30}" type="parTrans" cxnId="{6FF978C4-07D3-4D53-8C76-741A0B4E4BE3}">
      <dgm:prSet/>
      <dgm:spPr/>
      <dgm:t>
        <a:bodyPr/>
        <a:lstStyle/>
        <a:p>
          <a:endParaRPr lang="en-US"/>
        </a:p>
      </dgm:t>
    </dgm:pt>
    <dgm:pt modelId="{E18F64C3-7096-428F-8DAE-36DF5B35FCF0}" type="sibTrans" cxnId="{6FF978C4-07D3-4D53-8C76-741A0B4E4BE3}">
      <dgm:prSet/>
      <dgm:spPr/>
      <dgm:t>
        <a:bodyPr/>
        <a:lstStyle/>
        <a:p>
          <a:endParaRPr lang="en-US"/>
        </a:p>
      </dgm:t>
    </dgm:pt>
    <dgm:pt modelId="{C2447662-B44C-430D-8039-A9DAC66C9346}">
      <dgm:prSet/>
      <dgm:spPr/>
      <dgm:t>
        <a:bodyPr/>
        <a:lstStyle/>
        <a:p>
          <a:r>
            <a:rPr lang="en-US"/>
            <a:t>2	weight	3.302994e-06</a:t>
          </a:r>
        </a:p>
      </dgm:t>
    </dgm:pt>
    <dgm:pt modelId="{5E907EC4-5B19-4E2A-BAAD-F774EDAB8BFB}" type="parTrans" cxnId="{9E4BD4A6-607A-4699-BB00-6EA6FBEAF993}">
      <dgm:prSet/>
      <dgm:spPr/>
      <dgm:t>
        <a:bodyPr/>
        <a:lstStyle/>
        <a:p>
          <a:endParaRPr lang="en-US"/>
        </a:p>
      </dgm:t>
    </dgm:pt>
    <dgm:pt modelId="{FDD58872-6F6E-47D5-ADB7-FD861CFFF729}" type="sibTrans" cxnId="{9E4BD4A6-607A-4699-BB00-6EA6FBEAF993}">
      <dgm:prSet/>
      <dgm:spPr/>
      <dgm:t>
        <a:bodyPr/>
        <a:lstStyle/>
        <a:p>
          <a:endParaRPr lang="en-US"/>
        </a:p>
      </dgm:t>
    </dgm:pt>
    <dgm:pt modelId="{93AD2AAF-E3AE-4B6C-ACDD-2FC8A501062F}">
      <dgm:prSet/>
      <dgm:spPr/>
      <dgm:t>
        <a:bodyPr/>
        <a:lstStyle/>
        <a:p>
          <a:r>
            <a:rPr lang="en-US"/>
            <a:t>4	ap_lo	8.054466e-05</a:t>
          </a:r>
        </a:p>
      </dgm:t>
    </dgm:pt>
    <dgm:pt modelId="{EB8F9241-E1EE-4F2F-BE18-183B15DA22DA}" type="parTrans" cxnId="{D8E1B426-62CE-4D7D-A415-FECF58C95E90}">
      <dgm:prSet/>
      <dgm:spPr/>
      <dgm:t>
        <a:bodyPr/>
        <a:lstStyle/>
        <a:p>
          <a:endParaRPr lang="en-US"/>
        </a:p>
      </dgm:t>
    </dgm:pt>
    <dgm:pt modelId="{224B6ED8-2AFB-4C55-874E-A1B545517182}" type="sibTrans" cxnId="{D8E1B426-62CE-4D7D-A415-FECF58C95E90}">
      <dgm:prSet/>
      <dgm:spPr/>
      <dgm:t>
        <a:bodyPr/>
        <a:lstStyle/>
        <a:p>
          <a:endParaRPr lang="en-US"/>
        </a:p>
      </dgm:t>
    </dgm:pt>
    <dgm:pt modelId="{B688FF0D-C536-4D86-9AA8-EFFB5C95E70A}">
      <dgm:prSet/>
      <dgm:spPr/>
      <dgm:t>
        <a:bodyPr/>
        <a:lstStyle/>
        <a:p>
          <a:r>
            <a:rPr lang="en-US"/>
            <a:t>3	ap_hi	9.958568e-05</a:t>
          </a:r>
        </a:p>
      </dgm:t>
    </dgm:pt>
    <dgm:pt modelId="{F5906DB0-28AD-467C-A414-E332B4A6001D}" type="parTrans" cxnId="{ABA46F1C-A343-4979-9FD5-94D1087D94C4}">
      <dgm:prSet/>
      <dgm:spPr/>
      <dgm:t>
        <a:bodyPr/>
        <a:lstStyle/>
        <a:p>
          <a:endParaRPr lang="en-US"/>
        </a:p>
      </dgm:t>
    </dgm:pt>
    <dgm:pt modelId="{A378E3E2-E3EE-40B3-B682-99A02EB6F4F4}" type="sibTrans" cxnId="{ABA46F1C-A343-4979-9FD5-94D1087D94C4}">
      <dgm:prSet/>
      <dgm:spPr/>
      <dgm:t>
        <a:bodyPr/>
        <a:lstStyle/>
        <a:p>
          <a:endParaRPr lang="en-US"/>
        </a:p>
      </dgm:t>
    </dgm:pt>
    <dgm:pt modelId="{B6C1D379-3363-754D-9F7E-3CABA37A9184}" type="pres">
      <dgm:prSet presAssocID="{203D59F3-A28A-4029-8FF3-45010881F054}" presName="diagram" presStyleCnt="0">
        <dgm:presLayoutVars>
          <dgm:dir/>
          <dgm:resizeHandles val="exact"/>
        </dgm:presLayoutVars>
      </dgm:prSet>
      <dgm:spPr/>
    </dgm:pt>
    <dgm:pt modelId="{D072B36A-D96B-E24A-B527-36E9173F76B6}" type="pres">
      <dgm:prSet presAssocID="{CB5AA524-EF4A-4A91-B11D-9E0FA3674A97}" presName="node" presStyleLbl="node1" presStyleIdx="0" presStyleCnt="12">
        <dgm:presLayoutVars>
          <dgm:bulletEnabled val="1"/>
        </dgm:presLayoutVars>
      </dgm:prSet>
      <dgm:spPr/>
    </dgm:pt>
    <dgm:pt modelId="{D4983F64-FAC8-654F-B707-297EF13117C3}" type="pres">
      <dgm:prSet presAssocID="{E65FF620-2E6D-4F65-8A61-D8F4FB04004D}" presName="sibTrans" presStyleCnt="0"/>
      <dgm:spPr/>
    </dgm:pt>
    <dgm:pt modelId="{E3DFA4D8-46D4-5C44-BD0D-050C16AEDB54}" type="pres">
      <dgm:prSet presAssocID="{95BC7CD7-BDF4-4B3A-B3AD-404200491D59}" presName="node" presStyleLbl="node1" presStyleIdx="1" presStyleCnt="12">
        <dgm:presLayoutVars>
          <dgm:bulletEnabled val="1"/>
        </dgm:presLayoutVars>
      </dgm:prSet>
      <dgm:spPr/>
    </dgm:pt>
    <dgm:pt modelId="{67CFC6BA-0269-A54D-AAF9-9DD0BB83BD25}" type="pres">
      <dgm:prSet presAssocID="{FDB6BF16-32BE-445C-A77F-0176B6783E51}" presName="sibTrans" presStyleCnt="0"/>
      <dgm:spPr/>
    </dgm:pt>
    <dgm:pt modelId="{C3CE55CA-AD93-BA45-BA70-B3BC39342364}" type="pres">
      <dgm:prSet presAssocID="{40301123-329D-4F1C-ADC4-E54512D81389}" presName="node" presStyleLbl="node1" presStyleIdx="2" presStyleCnt="12">
        <dgm:presLayoutVars>
          <dgm:bulletEnabled val="1"/>
        </dgm:presLayoutVars>
      </dgm:prSet>
      <dgm:spPr/>
    </dgm:pt>
    <dgm:pt modelId="{64B0367A-EFD0-9D4E-A732-B074EA1FDEA5}" type="pres">
      <dgm:prSet presAssocID="{4B8AF20E-2707-46B1-BA04-93FC3BCAA5BA}" presName="sibTrans" presStyleCnt="0"/>
      <dgm:spPr/>
    </dgm:pt>
    <dgm:pt modelId="{44298834-1AAF-2E4E-A602-6FFD4C888527}" type="pres">
      <dgm:prSet presAssocID="{B79FA39A-C0FE-4BFA-BBDB-038FF2ABCF3C}" presName="node" presStyleLbl="node1" presStyleIdx="3" presStyleCnt="12">
        <dgm:presLayoutVars>
          <dgm:bulletEnabled val="1"/>
        </dgm:presLayoutVars>
      </dgm:prSet>
      <dgm:spPr/>
    </dgm:pt>
    <dgm:pt modelId="{BC96F1BF-82B7-094B-BF59-63F2D35E7D31}" type="pres">
      <dgm:prSet presAssocID="{40FD6A9F-6E1E-4248-A7A4-47E6A2EC86D8}" presName="sibTrans" presStyleCnt="0"/>
      <dgm:spPr/>
    </dgm:pt>
    <dgm:pt modelId="{189205C4-2779-9D4A-9952-4B5DA7A253C2}" type="pres">
      <dgm:prSet presAssocID="{43439456-7841-424E-8F87-08803B2A1B52}" presName="node" presStyleLbl="node1" presStyleIdx="4" presStyleCnt="12">
        <dgm:presLayoutVars>
          <dgm:bulletEnabled val="1"/>
        </dgm:presLayoutVars>
      </dgm:prSet>
      <dgm:spPr/>
    </dgm:pt>
    <dgm:pt modelId="{2CFD4203-A1CE-D44A-88E0-C586E6F22DDD}" type="pres">
      <dgm:prSet presAssocID="{F406B81C-BC50-4BE0-B108-D7E5C1A87DE1}" presName="sibTrans" presStyleCnt="0"/>
      <dgm:spPr/>
    </dgm:pt>
    <dgm:pt modelId="{E511BAAD-4F5C-7F4F-86F1-56FD5685E1A1}" type="pres">
      <dgm:prSet presAssocID="{45637655-E61E-4B86-8BF3-01FEB269F769}" presName="node" presStyleLbl="node1" presStyleIdx="5" presStyleCnt="12">
        <dgm:presLayoutVars>
          <dgm:bulletEnabled val="1"/>
        </dgm:presLayoutVars>
      </dgm:prSet>
      <dgm:spPr/>
    </dgm:pt>
    <dgm:pt modelId="{3FF83A86-60BC-3445-9DAB-284B2635179B}" type="pres">
      <dgm:prSet presAssocID="{B3FBD916-E655-4010-B9F8-7DB6066C6AE8}" presName="sibTrans" presStyleCnt="0"/>
      <dgm:spPr/>
    </dgm:pt>
    <dgm:pt modelId="{C88EAE6E-04FB-0047-BCB6-C0B92B9EE812}" type="pres">
      <dgm:prSet presAssocID="{D2C540A9-52A4-49B8-85D7-16374EA29099}" presName="node" presStyleLbl="node1" presStyleIdx="6" presStyleCnt="12">
        <dgm:presLayoutVars>
          <dgm:bulletEnabled val="1"/>
        </dgm:presLayoutVars>
      </dgm:prSet>
      <dgm:spPr/>
    </dgm:pt>
    <dgm:pt modelId="{EC1B27C4-D46A-C644-8E4F-2D73E418CFFD}" type="pres">
      <dgm:prSet presAssocID="{BAC6BA0F-2609-47E9-A701-4FB4B414A682}" presName="sibTrans" presStyleCnt="0"/>
      <dgm:spPr/>
    </dgm:pt>
    <dgm:pt modelId="{F136CD63-E3FB-A443-9E6E-FFA42002D0AB}" type="pres">
      <dgm:prSet presAssocID="{CA8A0DE1-ED0E-4DA0-B8E7-28ACCF8BE4ED}" presName="node" presStyleLbl="node1" presStyleIdx="7" presStyleCnt="12">
        <dgm:presLayoutVars>
          <dgm:bulletEnabled val="1"/>
        </dgm:presLayoutVars>
      </dgm:prSet>
      <dgm:spPr/>
    </dgm:pt>
    <dgm:pt modelId="{979BB98B-9882-E343-915B-5F9C011DF458}" type="pres">
      <dgm:prSet presAssocID="{B0C79AFC-6741-4FA9-9AD9-D1446CB25259}" presName="sibTrans" presStyleCnt="0"/>
      <dgm:spPr/>
    </dgm:pt>
    <dgm:pt modelId="{4217C3CD-7B84-8246-ABDB-8A3BA97E434B}" type="pres">
      <dgm:prSet presAssocID="{3D4C8000-7430-411F-8AA4-6ED87F9455AD}" presName="node" presStyleLbl="node1" presStyleIdx="8" presStyleCnt="12">
        <dgm:presLayoutVars>
          <dgm:bulletEnabled val="1"/>
        </dgm:presLayoutVars>
      </dgm:prSet>
      <dgm:spPr/>
    </dgm:pt>
    <dgm:pt modelId="{1D3C1434-7C60-9040-A067-CC69F4C98146}" type="pres">
      <dgm:prSet presAssocID="{E18F64C3-7096-428F-8DAE-36DF5B35FCF0}" presName="sibTrans" presStyleCnt="0"/>
      <dgm:spPr/>
    </dgm:pt>
    <dgm:pt modelId="{63D0C959-FE80-4D4D-8961-D63EAB0E34F7}" type="pres">
      <dgm:prSet presAssocID="{C2447662-B44C-430D-8039-A9DAC66C9346}" presName="node" presStyleLbl="node1" presStyleIdx="9" presStyleCnt="12">
        <dgm:presLayoutVars>
          <dgm:bulletEnabled val="1"/>
        </dgm:presLayoutVars>
      </dgm:prSet>
      <dgm:spPr/>
    </dgm:pt>
    <dgm:pt modelId="{37ABBE31-4327-FF4B-A679-8B07ADA01DF0}" type="pres">
      <dgm:prSet presAssocID="{FDD58872-6F6E-47D5-ADB7-FD861CFFF729}" presName="sibTrans" presStyleCnt="0"/>
      <dgm:spPr/>
    </dgm:pt>
    <dgm:pt modelId="{831500EB-62EF-9141-B310-A4529941BE38}" type="pres">
      <dgm:prSet presAssocID="{93AD2AAF-E3AE-4B6C-ACDD-2FC8A501062F}" presName="node" presStyleLbl="node1" presStyleIdx="10" presStyleCnt="12">
        <dgm:presLayoutVars>
          <dgm:bulletEnabled val="1"/>
        </dgm:presLayoutVars>
      </dgm:prSet>
      <dgm:spPr/>
    </dgm:pt>
    <dgm:pt modelId="{FA2A7DA3-7EA8-C54C-A3DB-FC6DB00A9938}" type="pres">
      <dgm:prSet presAssocID="{224B6ED8-2AFB-4C55-874E-A1B545517182}" presName="sibTrans" presStyleCnt="0"/>
      <dgm:spPr/>
    </dgm:pt>
    <dgm:pt modelId="{23E8369C-DA55-584D-A0B8-F885E315380A}" type="pres">
      <dgm:prSet presAssocID="{B688FF0D-C536-4D86-9AA8-EFFB5C95E70A}" presName="node" presStyleLbl="node1" presStyleIdx="11" presStyleCnt="12">
        <dgm:presLayoutVars>
          <dgm:bulletEnabled val="1"/>
        </dgm:presLayoutVars>
      </dgm:prSet>
      <dgm:spPr/>
    </dgm:pt>
  </dgm:ptLst>
  <dgm:cxnLst>
    <dgm:cxn modelId="{DB551C09-D3CB-F944-A7D5-BCF67D0F936A}" type="presOf" srcId="{B688FF0D-C536-4D86-9AA8-EFFB5C95E70A}" destId="{23E8369C-DA55-584D-A0B8-F885E315380A}" srcOrd="0" destOrd="0" presId="urn:microsoft.com/office/officeart/2005/8/layout/default"/>
    <dgm:cxn modelId="{ABA46F1C-A343-4979-9FD5-94D1087D94C4}" srcId="{203D59F3-A28A-4029-8FF3-45010881F054}" destId="{B688FF0D-C536-4D86-9AA8-EFFB5C95E70A}" srcOrd="11" destOrd="0" parTransId="{F5906DB0-28AD-467C-A414-E332B4A6001D}" sibTransId="{A378E3E2-E3EE-40B3-B682-99A02EB6F4F4}"/>
    <dgm:cxn modelId="{D8E1B426-62CE-4D7D-A415-FECF58C95E90}" srcId="{203D59F3-A28A-4029-8FF3-45010881F054}" destId="{93AD2AAF-E3AE-4B6C-ACDD-2FC8A501062F}" srcOrd="10" destOrd="0" parTransId="{EB8F9241-E1EE-4F2F-BE18-183B15DA22DA}" sibTransId="{224B6ED8-2AFB-4C55-874E-A1B545517182}"/>
    <dgm:cxn modelId="{42CFA735-1FFD-4515-ABF5-8D8FCC488F38}" srcId="{203D59F3-A28A-4029-8FF3-45010881F054}" destId="{40301123-329D-4F1C-ADC4-E54512D81389}" srcOrd="2" destOrd="0" parTransId="{E0AA93D6-FB77-443E-804C-36B6D4690641}" sibTransId="{4B8AF20E-2707-46B1-BA04-93FC3BCAA5BA}"/>
    <dgm:cxn modelId="{D0D58942-38BE-4373-8443-8FAAE762DF25}" srcId="{203D59F3-A28A-4029-8FF3-45010881F054}" destId="{D2C540A9-52A4-49B8-85D7-16374EA29099}" srcOrd="6" destOrd="0" parTransId="{03D2A8CC-9FA5-4D3D-976A-4C3F52FD107C}" sibTransId="{BAC6BA0F-2609-47E9-A701-4FB4B414A682}"/>
    <dgm:cxn modelId="{B9B2EA50-5BB5-4122-97C0-316F7EAC0C96}" srcId="{203D59F3-A28A-4029-8FF3-45010881F054}" destId="{CB5AA524-EF4A-4A91-B11D-9E0FA3674A97}" srcOrd="0" destOrd="0" parTransId="{6A8014C6-DCCC-429B-8F97-C8CCFCCE2442}" sibTransId="{E65FF620-2E6D-4F65-8A61-D8F4FB04004D}"/>
    <dgm:cxn modelId="{E4F3CF53-7B0A-AF48-B22C-7E700C07B9B0}" type="presOf" srcId="{45637655-E61E-4B86-8BF3-01FEB269F769}" destId="{E511BAAD-4F5C-7F4F-86F1-56FD5685E1A1}" srcOrd="0" destOrd="0" presId="urn:microsoft.com/office/officeart/2005/8/layout/default"/>
    <dgm:cxn modelId="{6DD38154-5441-40BC-883C-00B3DE9B3A5C}" srcId="{203D59F3-A28A-4029-8FF3-45010881F054}" destId="{45637655-E61E-4B86-8BF3-01FEB269F769}" srcOrd="5" destOrd="0" parTransId="{816018F3-D7A3-4617-98FA-01202F487F35}" sibTransId="{B3FBD916-E655-4010-B9F8-7DB6066C6AE8}"/>
    <dgm:cxn modelId="{B0F3C16A-2E5D-1C45-9420-CCD3C93DDD05}" type="presOf" srcId="{3D4C8000-7430-411F-8AA4-6ED87F9455AD}" destId="{4217C3CD-7B84-8246-ABDB-8A3BA97E434B}" srcOrd="0" destOrd="0" presId="urn:microsoft.com/office/officeart/2005/8/layout/default"/>
    <dgm:cxn modelId="{199C366C-529C-AA4C-92F8-765D076BECE7}" type="presOf" srcId="{CA8A0DE1-ED0E-4DA0-B8E7-28ACCF8BE4ED}" destId="{F136CD63-E3FB-A443-9E6E-FFA42002D0AB}" srcOrd="0" destOrd="0" presId="urn:microsoft.com/office/officeart/2005/8/layout/default"/>
    <dgm:cxn modelId="{542B3470-7323-D04B-95A9-239FE1F70A54}" type="presOf" srcId="{B79FA39A-C0FE-4BFA-BBDB-038FF2ABCF3C}" destId="{44298834-1AAF-2E4E-A602-6FFD4C888527}" srcOrd="0" destOrd="0" presId="urn:microsoft.com/office/officeart/2005/8/layout/default"/>
    <dgm:cxn modelId="{C5DA5476-AFF3-634B-BD73-AF5B19B254FB}" type="presOf" srcId="{43439456-7841-424E-8F87-08803B2A1B52}" destId="{189205C4-2779-9D4A-9952-4B5DA7A253C2}" srcOrd="0" destOrd="0" presId="urn:microsoft.com/office/officeart/2005/8/layout/default"/>
    <dgm:cxn modelId="{E871FF7A-00CF-8644-AE5A-361CA6D3F01D}" type="presOf" srcId="{203D59F3-A28A-4029-8FF3-45010881F054}" destId="{B6C1D379-3363-754D-9F7E-3CABA37A9184}" srcOrd="0" destOrd="0" presId="urn:microsoft.com/office/officeart/2005/8/layout/default"/>
    <dgm:cxn modelId="{81856483-5B27-49E8-A53B-1F8BFFA9163B}" srcId="{203D59F3-A28A-4029-8FF3-45010881F054}" destId="{95BC7CD7-BDF4-4B3A-B3AD-404200491D59}" srcOrd="1" destOrd="0" parTransId="{AD6C5227-0799-403D-9DE5-58583161BE8F}" sibTransId="{FDB6BF16-32BE-445C-A77F-0176B6783E51}"/>
    <dgm:cxn modelId="{8B5E1587-C66D-499E-A7F2-A2C2ED9CD0E0}" srcId="{203D59F3-A28A-4029-8FF3-45010881F054}" destId="{43439456-7841-424E-8F87-08803B2A1B52}" srcOrd="4" destOrd="0" parTransId="{09C69F5F-C1C0-4B5D-9823-C50A11A8CE75}" sibTransId="{F406B81C-BC50-4BE0-B108-D7E5C1A87DE1}"/>
    <dgm:cxn modelId="{EEABEE8E-1432-453C-AF54-0E1D476F4EA6}" srcId="{203D59F3-A28A-4029-8FF3-45010881F054}" destId="{B79FA39A-C0FE-4BFA-BBDB-038FF2ABCF3C}" srcOrd="3" destOrd="0" parTransId="{22EEF361-45D5-4CD8-8D41-9DE5BB2FCBD3}" sibTransId="{40FD6A9F-6E1E-4248-A7A4-47E6A2EC86D8}"/>
    <dgm:cxn modelId="{6FBC7794-903A-FA47-ADFE-8727638B66FC}" type="presOf" srcId="{CB5AA524-EF4A-4A91-B11D-9E0FA3674A97}" destId="{D072B36A-D96B-E24A-B527-36E9173F76B6}" srcOrd="0" destOrd="0" presId="urn:microsoft.com/office/officeart/2005/8/layout/default"/>
    <dgm:cxn modelId="{A2EBEFA5-01C4-BE40-8B75-83F3270CAB95}" type="presOf" srcId="{C2447662-B44C-430D-8039-A9DAC66C9346}" destId="{63D0C959-FE80-4D4D-8961-D63EAB0E34F7}" srcOrd="0" destOrd="0" presId="urn:microsoft.com/office/officeart/2005/8/layout/default"/>
    <dgm:cxn modelId="{9E4BD4A6-607A-4699-BB00-6EA6FBEAF993}" srcId="{203D59F3-A28A-4029-8FF3-45010881F054}" destId="{C2447662-B44C-430D-8039-A9DAC66C9346}" srcOrd="9" destOrd="0" parTransId="{5E907EC4-5B19-4E2A-BAAD-F774EDAB8BFB}" sibTransId="{FDD58872-6F6E-47D5-ADB7-FD861CFFF729}"/>
    <dgm:cxn modelId="{93C55EA9-A279-1343-B95A-443E930ACCBD}" type="presOf" srcId="{95BC7CD7-BDF4-4B3A-B3AD-404200491D59}" destId="{E3DFA4D8-46D4-5C44-BD0D-050C16AEDB54}" srcOrd="0" destOrd="0" presId="urn:microsoft.com/office/officeart/2005/8/layout/default"/>
    <dgm:cxn modelId="{714584B4-6DF2-48BE-A410-8C29BB146C7B}" srcId="{203D59F3-A28A-4029-8FF3-45010881F054}" destId="{CA8A0DE1-ED0E-4DA0-B8E7-28ACCF8BE4ED}" srcOrd="7" destOrd="0" parTransId="{122614E1-F8E0-43BD-8AC7-647986D01D08}" sibTransId="{B0C79AFC-6741-4FA9-9AD9-D1446CB25259}"/>
    <dgm:cxn modelId="{6FF978C4-07D3-4D53-8C76-741A0B4E4BE3}" srcId="{203D59F3-A28A-4029-8FF3-45010881F054}" destId="{3D4C8000-7430-411F-8AA4-6ED87F9455AD}" srcOrd="8" destOrd="0" parTransId="{04CCC486-232D-4152-9061-03FF8D317E30}" sibTransId="{E18F64C3-7096-428F-8DAE-36DF5B35FCF0}"/>
    <dgm:cxn modelId="{6FEDCDCD-D302-A74D-9CC1-86775C30CDC3}" type="presOf" srcId="{40301123-329D-4F1C-ADC4-E54512D81389}" destId="{C3CE55CA-AD93-BA45-BA70-B3BC39342364}" srcOrd="0" destOrd="0" presId="urn:microsoft.com/office/officeart/2005/8/layout/default"/>
    <dgm:cxn modelId="{A8C0C7D2-3681-FE44-B8DC-C808033ED2C7}" type="presOf" srcId="{93AD2AAF-E3AE-4B6C-ACDD-2FC8A501062F}" destId="{831500EB-62EF-9141-B310-A4529941BE38}" srcOrd="0" destOrd="0" presId="urn:microsoft.com/office/officeart/2005/8/layout/default"/>
    <dgm:cxn modelId="{BA5296ED-C6EB-A140-9F83-409FD18C7E5B}" type="presOf" srcId="{D2C540A9-52A4-49B8-85D7-16374EA29099}" destId="{C88EAE6E-04FB-0047-BCB6-C0B92B9EE812}" srcOrd="0" destOrd="0" presId="urn:microsoft.com/office/officeart/2005/8/layout/default"/>
    <dgm:cxn modelId="{9F096945-3B16-FB4A-B5A6-A83368F38C52}" type="presParOf" srcId="{B6C1D379-3363-754D-9F7E-3CABA37A9184}" destId="{D072B36A-D96B-E24A-B527-36E9173F76B6}" srcOrd="0" destOrd="0" presId="urn:microsoft.com/office/officeart/2005/8/layout/default"/>
    <dgm:cxn modelId="{5FA8E48B-2E4A-2E48-805F-0DEDAF10836C}" type="presParOf" srcId="{B6C1D379-3363-754D-9F7E-3CABA37A9184}" destId="{D4983F64-FAC8-654F-B707-297EF13117C3}" srcOrd="1" destOrd="0" presId="urn:microsoft.com/office/officeart/2005/8/layout/default"/>
    <dgm:cxn modelId="{33087242-B44C-C74C-B7C1-114B1D1F8FA9}" type="presParOf" srcId="{B6C1D379-3363-754D-9F7E-3CABA37A9184}" destId="{E3DFA4D8-46D4-5C44-BD0D-050C16AEDB54}" srcOrd="2" destOrd="0" presId="urn:microsoft.com/office/officeart/2005/8/layout/default"/>
    <dgm:cxn modelId="{ADA286E4-B9A4-5E46-B28E-2CD279495D9F}" type="presParOf" srcId="{B6C1D379-3363-754D-9F7E-3CABA37A9184}" destId="{67CFC6BA-0269-A54D-AAF9-9DD0BB83BD25}" srcOrd="3" destOrd="0" presId="urn:microsoft.com/office/officeart/2005/8/layout/default"/>
    <dgm:cxn modelId="{0921C593-C0FE-F44D-A385-33E07C33FD2A}" type="presParOf" srcId="{B6C1D379-3363-754D-9F7E-3CABA37A9184}" destId="{C3CE55CA-AD93-BA45-BA70-B3BC39342364}" srcOrd="4" destOrd="0" presId="urn:microsoft.com/office/officeart/2005/8/layout/default"/>
    <dgm:cxn modelId="{63834BBD-9398-F546-8B8C-73242497BCBE}" type="presParOf" srcId="{B6C1D379-3363-754D-9F7E-3CABA37A9184}" destId="{64B0367A-EFD0-9D4E-A732-B074EA1FDEA5}" srcOrd="5" destOrd="0" presId="urn:microsoft.com/office/officeart/2005/8/layout/default"/>
    <dgm:cxn modelId="{287B4122-1947-5440-A176-3182242E8731}" type="presParOf" srcId="{B6C1D379-3363-754D-9F7E-3CABA37A9184}" destId="{44298834-1AAF-2E4E-A602-6FFD4C888527}" srcOrd="6" destOrd="0" presId="urn:microsoft.com/office/officeart/2005/8/layout/default"/>
    <dgm:cxn modelId="{83052383-437C-0D40-A476-FAEB9EFA6A4F}" type="presParOf" srcId="{B6C1D379-3363-754D-9F7E-3CABA37A9184}" destId="{BC96F1BF-82B7-094B-BF59-63F2D35E7D31}" srcOrd="7" destOrd="0" presId="urn:microsoft.com/office/officeart/2005/8/layout/default"/>
    <dgm:cxn modelId="{C6A248AD-D2AF-6449-BD78-10CDCDFFEDE3}" type="presParOf" srcId="{B6C1D379-3363-754D-9F7E-3CABA37A9184}" destId="{189205C4-2779-9D4A-9952-4B5DA7A253C2}" srcOrd="8" destOrd="0" presId="urn:microsoft.com/office/officeart/2005/8/layout/default"/>
    <dgm:cxn modelId="{15587EA6-37C5-DB4A-9380-A5419BED6190}" type="presParOf" srcId="{B6C1D379-3363-754D-9F7E-3CABA37A9184}" destId="{2CFD4203-A1CE-D44A-88E0-C586E6F22DDD}" srcOrd="9" destOrd="0" presId="urn:microsoft.com/office/officeart/2005/8/layout/default"/>
    <dgm:cxn modelId="{24F7A0A7-DE04-8A46-B113-2CC362B5F0CD}" type="presParOf" srcId="{B6C1D379-3363-754D-9F7E-3CABA37A9184}" destId="{E511BAAD-4F5C-7F4F-86F1-56FD5685E1A1}" srcOrd="10" destOrd="0" presId="urn:microsoft.com/office/officeart/2005/8/layout/default"/>
    <dgm:cxn modelId="{57C3F9F7-1BD0-C840-85CA-F847B67E74E9}" type="presParOf" srcId="{B6C1D379-3363-754D-9F7E-3CABA37A9184}" destId="{3FF83A86-60BC-3445-9DAB-284B2635179B}" srcOrd="11" destOrd="0" presId="urn:microsoft.com/office/officeart/2005/8/layout/default"/>
    <dgm:cxn modelId="{C9958377-D9AE-7A4A-B202-BA54888567BA}" type="presParOf" srcId="{B6C1D379-3363-754D-9F7E-3CABA37A9184}" destId="{C88EAE6E-04FB-0047-BCB6-C0B92B9EE812}" srcOrd="12" destOrd="0" presId="urn:microsoft.com/office/officeart/2005/8/layout/default"/>
    <dgm:cxn modelId="{660983E4-E48A-9340-86EF-CD50D19DC537}" type="presParOf" srcId="{B6C1D379-3363-754D-9F7E-3CABA37A9184}" destId="{EC1B27C4-D46A-C644-8E4F-2D73E418CFFD}" srcOrd="13" destOrd="0" presId="urn:microsoft.com/office/officeart/2005/8/layout/default"/>
    <dgm:cxn modelId="{C8322F27-4118-EE4A-BE0B-23E0D39A6B22}" type="presParOf" srcId="{B6C1D379-3363-754D-9F7E-3CABA37A9184}" destId="{F136CD63-E3FB-A443-9E6E-FFA42002D0AB}" srcOrd="14" destOrd="0" presId="urn:microsoft.com/office/officeart/2005/8/layout/default"/>
    <dgm:cxn modelId="{DBACD537-253B-C440-8A73-E73D1CBB42C8}" type="presParOf" srcId="{B6C1D379-3363-754D-9F7E-3CABA37A9184}" destId="{979BB98B-9882-E343-915B-5F9C011DF458}" srcOrd="15" destOrd="0" presId="urn:microsoft.com/office/officeart/2005/8/layout/default"/>
    <dgm:cxn modelId="{D89A99ED-30C7-C64F-B015-CC9DB3D9D2FC}" type="presParOf" srcId="{B6C1D379-3363-754D-9F7E-3CABA37A9184}" destId="{4217C3CD-7B84-8246-ABDB-8A3BA97E434B}" srcOrd="16" destOrd="0" presId="urn:microsoft.com/office/officeart/2005/8/layout/default"/>
    <dgm:cxn modelId="{6348CE5D-D7B4-8245-B380-99D459C9B672}" type="presParOf" srcId="{B6C1D379-3363-754D-9F7E-3CABA37A9184}" destId="{1D3C1434-7C60-9040-A067-CC69F4C98146}" srcOrd="17" destOrd="0" presId="urn:microsoft.com/office/officeart/2005/8/layout/default"/>
    <dgm:cxn modelId="{BD73671E-36D8-0348-BC73-DBFF30AA2B04}" type="presParOf" srcId="{B6C1D379-3363-754D-9F7E-3CABA37A9184}" destId="{63D0C959-FE80-4D4D-8961-D63EAB0E34F7}" srcOrd="18" destOrd="0" presId="urn:microsoft.com/office/officeart/2005/8/layout/default"/>
    <dgm:cxn modelId="{838A0A90-3A5B-0647-9AC7-3E9CD55B26BC}" type="presParOf" srcId="{B6C1D379-3363-754D-9F7E-3CABA37A9184}" destId="{37ABBE31-4327-FF4B-A679-8B07ADA01DF0}" srcOrd="19" destOrd="0" presId="urn:microsoft.com/office/officeart/2005/8/layout/default"/>
    <dgm:cxn modelId="{362A64F0-4C3B-7E45-834A-84FCB196F4AC}" type="presParOf" srcId="{B6C1D379-3363-754D-9F7E-3CABA37A9184}" destId="{831500EB-62EF-9141-B310-A4529941BE38}" srcOrd="20" destOrd="0" presId="urn:microsoft.com/office/officeart/2005/8/layout/default"/>
    <dgm:cxn modelId="{4CCAB31F-C8C9-6D46-9A47-487650DE5FA1}" type="presParOf" srcId="{B6C1D379-3363-754D-9F7E-3CABA37A9184}" destId="{FA2A7DA3-7EA8-C54C-A3DB-FC6DB00A9938}" srcOrd="21" destOrd="0" presId="urn:microsoft.com/office/officeart/2005/8/layout/default"/>
    <dgm:cxn modelId="{0C659584-5AEA-7C49-BFD0-ECF70DC12986}" type="presParOf" srcId="{B6C1D379-3363-754D-9F7E-3CABA37A9184}" destId="{23E8369C-DA55-584D-A0B8-F885E315380A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65A5D5-0AE4-4AA5-9733-BAB16C65363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D2A93A-E0D2-4272-B21A-8A26B5A7283E}">
      <dgm:prSet/>
      <dgm:spPr/>
      <dgm:t>
        <a:bodyPr/>
        <a:lstStyle/>
        <a:p>
          <a:r>
            <a:rPr lang="en-US"/>
            <a:t>Positive correlations → Higher risk of cardiovascular disease</a:t>
          </a:r>
        </a:p>
      </dgm:t>
    </dgm:pt>
    <dgm:pt modelId="{EC2A51D8-038A-409C-BEA6-44D4F2A7080C}" type="parTrans" cxnId="{46A950EC-1BE7-4A6A-96FA-8E9FFF2F1A2F}">
      <dgm:prSet/>
      <dgm:spPr/>
      <dgm:t>
        <a:bodyPr/>
        <a:lstStyle/>
        <a:p>
          <a:endParaRPr lang="en-US"/>
        </a:p>
      </dgm:t>
    </dgm:pt>
    <dgm:pt modelId="{E948CE97-F235-415D-ABA5-7031815FB3F1}" type="sibTrans" cxnId="{46A950EC-1BE7-4A6A-96FA-8E9FFF2F1A2F}">
      <dgm:prSet/>
      <dgm:spPr/>
      <dgm:t>
        <a:bodyPr/>
        <a:lstStyle/>
        <a:p>
          <a:endParaRPr lang="en-US"/>
        </a:p>
      </dgm:t>
    </dgm:pt>
    <dgm:pt modelId="{8D0E9CA2-63EE-4ACB-A4C2-000095CEE059}">
      <dgm:prSet/>
      <dgm:spPr/>
      <dgm:t>
        <a:bodyPr/>
        <a:lstStyle/>
        <a:p>
          <a:r>
            <a:rPr lang="en-US"/>
            <a:t>Examples (stronger to weaker):</a:t>
          </a:r>
        </a:p>
      </dgm:t>
    </dgm:pt>
    <dgm:pt modelId="{407D03B3-2303-4040-90D4-6CB27B73F9A7}" type="parTrans" cxnId="{F19FB09F-C669-49A4-817C-3EBB3EA54D30}">
      <dgm:prSet/>
      <dgm:spPr/>
      <dgm:t>
        <a:bodyPr/>
        <a:lstStyle/>
        <a:p>
          <a:endParaRPr lang="en-US"/>
        </a:p>
      </dgm:t>
    </dgm:pt>
    <dgm:pt modelId="{68F8A53F-6348-4978-9F4B-02576ECF22A4}" type="sibTrans" cxnId="{F19FB09F-C669-49A4-817C-3EBB3EA54D30}">
      <dgm:prSet/>
      <dgm:spPr/>
      <dgm:t>
        <a:bodyPr/>
        <a:lstStyle/>
        <a:p>
          <a:endParaRPr lang="en-US"/>
        </a:p>
      </dgm:t>
    </dgm:pt>
    <dgm:pt modelId="{FA89CE80-584D-4FCC-980B-291993451521}">
      <dgm:prSet/>
      <dgm:spPr/>
      <dgm:t>
        <a:bodyPr/>
        <a:lstStyle/>
        <a:p>
          <a:r>
            <a:rPr lang="en-US"/>
            <a:t>cholesterol</a:t>
          </a:r>
        </a:p>
      </dgm:t>
    </dgm:pt>
    <dgm:pt modelId="{9B292BC3-4959-4005-8D10-3AEE1FABA7B7}" type="parTrans" cxnId="{419D4BC1-F9CE-4197-9C0F-8DF350C99682}">
      <dgm:prSet/>
      <dgm:spPr/>
      <dgm:t>
        <a:bodyPr/>
        <a:lstStyle/>
        <a:p>
          <a:endParaRPr lang="en-US"/>
        </a:p>
      </dgm:t>
    </dgm:pt>
    <dgm:pt modelId="{A1049918-7F09-44A7-A5BA-62A7B98BCB30}" type="sibTrans" cxnId="{419D4BC1-F9CE-4197-9C0F-8DF350C99682}">
      <dgm:prSet/>
      <dgm:spPr/>
      <dgm:t>
        <a:bodyPr/>
        <a:lstStyle/>
        <a:p>
          <a:endParaRPr lang="en-US"/>
        </a:p>
      </dgm:t>
    </dgm:pt>
    <dgm:pt modelId="{9F33A61F-2AF9-45F5-979B-DB87119E5C8A}">
      <dgm:prSet/>
      <dgm:spPr/>
      <dgm:t>
        <a:bodyPr/>
        <a:lstStyle/>
        <a:p>
          <a:r>
            <a:rPr lang="en-US"/>
            <a:t>gluc</a:t>
          </a:r>
        </a:p>
      </dgm:t>
    </dgm:pt>
    <dgm:pt modelId="{8BBF6923-7CE7-46BF-9426-59A7A9E1B692}" type="parTrans" cxnId="{FD6D51F0-81EF-4862-8D98-3661B452ED2A}">
      <dgm:prSet/>
      <dgm:spPr/>
      <dgm:t>
        <a:bodyPr/>
        <a:lstStyle/>
        <a:p>
          <a:endParaRPr lang="en-US"/>
        </a:p>
      </dgm:t>
    </dgm:pt>
    <dgm:pt modelId="{291F4E1D-D788-4814-A31E-3AB9DBEC536A}" type="sibTrans" cxnId="{FD6D51F0-81EF-4862-8D98-3661B452ED2A}">
      <dgm:prSet/>
      <dgm:spPr/>
      <dgm:t>
        <a:bodyPr/>
        <a:lstStyle/>
        <a:p>
          <a:endParaRPr lang="en-US"/>
        </a:p>
      </dgm:t>
    </dgm:pt>
    <dgm:pt modelId="{DCF8A4A5-5833-46F3-952D-C1A422516EFA}">
      <dgm:prSet/>
      <dgm:spPr/>
      <dgm:t>
        <a:bodyPr/>
        <a:lstStyle/>
        <a:p>
          <a:r>
            <a:rPr lang="en-US"/>
            <a:t>age</a:t>
          </a:r>
        </a:p>
      </dgm:t>
    </dgm:pt>
    <dgm:pt modelId="{50191ED2-0A35-4CAD-B661-F425515C9797}" type="parTrans" cxnId="{D01009B0-A077-45E8-8C15-51AD47B46B9E}">
      <dgm:prSet/>
      <dgm:spPr/>
      <dgm:t>
        <a:bodyPr/>
        <a:lstStyle/>
        <a:p>
          <a:endParaRPr lang="en-US"/>
        </a:p>
      </dgm:t>
    </dgm:pt>
    <dgm:pt modelId="{D11D4917-5207-49D9-8265-69F4D6BA5899}" type="sibTrans" cxnId="{D01009B0-A077-45E8-8C15-51AD47B46B9E}">
      <dgm:prSet/>
      <dgm:spPr/>
      <dgm:t>
        <a:bodyPr/>
        <a:lstStyle/>
        <a:p>
          <a:endParaRPr lang="en-US"/>
        </a:p>
      </dgm:t>
    </dgm:pt>
    <dgm:pt modelId="{DB43453E-1B5E-4D28-9A00-52EC074320E5}">
      <dgm:prSet/>
      <dgm:spPr/>
      <dgm:t>
        <a:bodyPr/>
        <a:lstStyle/>
        <a:p>
          <a:r>
            <a:rPr lang="en-US"/>
            <a:t>ap_hi</a:t>
          </a:r>
        </a:p>
      </dgm:t>
    </dgm:pt>
    <dgm:pt modelId="{94221E02-228C-41FA-BF00-6913DC0D9F92}" type="parTrans" cxnId="{F7C1D33E-B4E4-4327-AE3A-6429A6F3853F}">
      <dgm:prSet/>
      <dgm:spPr/>
      <dgm:t>
        <a:bodyPr/>
        <a:lstStyle/>
        <a:p>
          <a:endParaRPr lang="en-US"/>
        </a:p>
      </dgm:t>
    </dgm:pt>
    <dgm:pt modelId="{9B464BDC-2478-4E11-AE2D-75113DBBB279}" type="sibTrans" cxnId="{F7C1D33E-B4E4-4327-AE3A-6429A6F3853F}">
      <dgm:prSet/>
      <dgm:spPr/>
      <dgm:t>
        <a:bodyPr/>
        <a:lstStyle/>
        <a:p>
          <a:endParaRPr lang="en-US"/>
        </a:p>
      </dgm:t>
    </dgm:pt>
    <dgm:pt modelId="{F9B449DF-9853-449E-BBDE-7DD3B3E312B3}">
      <dgm:prSet/>
      <dgm:spPr/>
      <dgm:t>
        <a:bodyPr/>
        <a:lstStyle/>
        <a:p>
          <a:r>
            <a:rPr lang="en-US"/>
            <a:t>ap_lo</a:t>
          </a:r>
        </a:p>
      </dgm:t>
    </dgm:pt>
    <dgm:pt modelId="{1B69A6EC-CD93-43BC-B9E2-A96EA6467865}" type="parTrans" cxnId="{4D9409AF-F611-4E21-9E22-6AAAB59C772C}">
      <dgm:prSet/>
      <dgm:spPr/>
      <dgm:t>
        <a:bodyPr/>
        <a:lstStyle/>
        <a:p>
          <a:endParaRPr lang="en-US"/>
        </a:p>
      </dgm:t>
    </dgm:pt>
    <dgm:pt modelId="{83B21A8C-1712-49E6-B043-50784C13C54C}" type="sibTrans" cxnId="{4D9409AF-F611-4E21-9E22-6AAAB59C772C}">
      <dgm:prSet/>
      <dgm:spPr/>
      <dgm:t>
        <a:bodyPr/>
        <a:lstStyle/>
        <a:p>
          <a:endParaRPr lang="en-US"/>
        </a:p>
      </dgm:t>
    </dgm:pt>
    <dgm:pt modelId="{E0C8B08C-3826-4FAC-824C-C40B037C36B6}">
      <dgm:prSet/>
      <dgm:spPr/>
      <dgm:t>
        <a:bodyPr/>
        <a:lstStyle/>
        <a:p>
          <a:r>
            <a:rPr lang="en-US"/>
            <a:t>These match real clinical risk factors</a:t>
          </a:r>
        </a:p>
      </dgm:t>
    </dgm:pt>
    <dgm:pt modelId="{C7113E2D-C92E-4FB3-B328-10370A909A5C}" type="parTrans" cxnId="{711ADBD6-3B25-4814-8840-A399EFC005D4}">
      <dgm:prSet/>
      <dgm:spPr/>
      <dgm:t>
        <a:bodyPr/>
        <a:lstStyle/>
        <a:p>
          <a:endParaRPr lang="en-US"/>
        </a:p>
      </dgm:t>
    </dgm:pt>
    <dgm:pt modelId="{5CDD336F-9437-4839-9761-8603B9C5152C}" type="sibTrans" cxnId="{711ADBD6-3B25-4814-8840-A399EFC005D4}">
      <dgm:prSet/>
      <dgm:spPr/>
      <dgm:t>
        <a:bodyPr/>
        <a:lstStyle/>
        <a:p>
          <a:endParaRPr lang="en-US"/>
        </a:p>
      </dgm:t>
    </dgm:pt>
    <dgm:pt modelId="{20562E22-A8D0-42F3-9DE3-BD55693F1655}">
      <dgm:prSet/>
      <dgm:spPr/>
      <dgm:t>
        <a:bodyPr/>
        <a:lstStyle/>
        <a:p>
          <a:r>
            <a:rPr lang="en-US"/>
            <a:t>Near-zero correlations → Little to no linear relationship</a:t>
          </a:r>
        </a:p>
      </dgm:t>
    </dgm:pt>
    <dgm:pt modelId="{DA893B66-9AD6-44AB-B3EB-C4D3F96F1F9C}" type="parTrans" cxnId="{F764F697-2BE0-4D26-9482-02B4FCF2C80C}">
      <dgm:prSet/>
      <dgm:spPr/>
      <dgm:t>
        <a:bodyPr/>
        <a:lstStyle/>
        <a:p>
          <a:endParaRPr lang="en-US"/>
        </a:p>
      </dgm:t>
    </dgm:pt>
    <dgm:pt modelId="{B3F62E04-9DA7-4DBF-92EC-C8D8FE66DF1B}" type="sibTrans" cxnId="{F764F697-2BE0-4D26-9482-02B4FCF2C80C}">
      <dgm:prSet/>
      <dgm:spPr/>
      <dgm:t>
        <a:bodyPr/>
        <a:lstStyle/>
        <a:p>
          <a:endParaRPr lang="en-US"/>
        </a:p>
      </dgm:t>
    </dgm:pt>
    <dgm:pt modelId="{52DCACA8-9FC2-4338-80DF-2A903B5E4729}">
      <dgm:prSet/>
      <dgm:spPr/>
      <dgm:t>
        <a:bodyPr/>
        <a:lstStyle/>
        <a:p>
          <a:r>
            <a:rPr lang="en-US"/>
            <a:t>active</a:t>
          </a:r>
        </a:p>
      </dgm:t>
    </dgm:pt>
    <dgm:pt modelId="{90E0A94C-99B2-414A-8C1F-C62F1470985F}" type="parTrans" cxnId="{5AFC1AC6-13DE-4154-83D1-910E9930392D}">
      <dgm:prSet/>
      <dgm:spPr/>
      <dgm:t>
        <a:bodyPr/>
        <a:lstStyle/>
        <a:p>
          <a:endParaRPr lang="en-US"/>
        </a:p>
      </dgm:t>
    </dgm:pt>
    <dgm:pt modelId="{11152747-69B1-4D1C-8E29-F064CDAA30B4}" type="sibTrans" cxnId="{5AFC1AC6-13DE-4154-83D1-910E9930392D}">
      <dgm:prSet/>
      <dgm:spPr/>
      <dgm:t>
        <a:bodyPr/>
        <a:lstStyle/>
        <a:p>
          <a:endParaRPr lang="en-US"/>
        </a:p>
      </dgm:t>
    </dgm:pt>
    <dgm:pt modelId="{630A73B3-16E9-42FB-910C-03CE4F9515A6}">
      <dgm:prSet/>
      <dgm:spPr/>
      <dgm:t>
        <a:bodyPr/>
        <a:lstStyle/>
        <a:p>
          <a:r>
            <a:rPr lang="en-US"/>
            <a:t>alco</a:t>
          </a:r>
        </a:p>
      </dgm:t>
    </dgm:pt>
    <dgm:pt modelId="{D2290533-EC56-4E23-A564-A32A34F0F6DC}" type="parTrans" cxnId="{2873AFD4-4D8D-4AAD-8E6F-18EA0E135660}">
      <dgm:prSet/>
      <dgm:spPr/>
      <dgm:t>
        <a:bodyPr/>
        <a:lstStyle/>
        <a:p>
          <a:endParaRPr lang="en-US"/>
        </a:p>
      </dgm:t>
    </dgm:pt>
    <dgm:pt modelId="{718335BF-58D2-4412-A317-7B58D1707C57}" type="sibTrans" cxnId="{2873AFD4-4D8D-4AAD-8E6F-18EA0E135660}">
      <dgm:prSet/>
      <dgm:spPr/>
      <dgm:t>
        <a:bodyPr/>
        <a:lstStyle/>
        <a:p>
          <a:endParaRPr lang="en-US"/>
        </a:p>
      </dgm:t>
    </dgm:pt>
    <dgm:pt modelId="{FD3A3D5A-E86D-4329-8746-1E235BAB2678}">
      <dgm:prSet/>
      <dgm:spPr/>
      <dgm:t>
        <a:bodyPr/>
        <a:lstStyle/>
        <a:p>
          <a:r>
            <a:rPr lang="en-US"/>
            <a:t>smoke</a:t>
          </a:r>
        </a:p>
      </dgm:t>
    </dgm:pt>
    <dgm:pt modelId="{746EB43E-AD46-458D-BC6B-7A7F27C6C3EA}" type="parTrans" cxnId="{C8F70E5B-B02F-4DAF-993F-C420733CD2AF}">
      <dgm:prSet/>
      <dgm:spPr/>
      <dgm:t>
        <a:bodyPr/>
        <a:lstStyle/>
        <a:p>
          <a:endParaRPr lang="en-US"/>
        </a:p>
      </dgm:t>
    </dgm:pt>
    <dgm:pt modelId="{D9E5CB63-BD2C-438C-BA85-538C13C09C58}" type="sibTrans" cxnId="{C8F70E5B-B02F-4DAF-993F-C420733CD2AF}">
      <dgm:prSet/>
      <dgm:spPr/>
      <dgm:t>
        <a:bodyPr/>
        <a:lstStyle/>
        <a:p>
          <a:endParaRPr lang="en-US"/>
        </a:p>
      </dgm:t>
    </dgm:pt>
    <dgm:pt modelId="{22B7140D-1B7F-4E4E-B5BF-4B21D874DE59}" type="pres">
      <dgm:prSet presAssocID="{3365A5D5-0AE4-4AA5-9733-BAB16C653635}" presName="linear" presStyleCnt="0">
        <dgm:presLayoutVars>
          <dgm:animLvl val="lvl"/>
          <dgm:resizeHandles val="exact"/>
        </dgm:presLayoutVars>
      </dgm:prSet>
      <dgm:spPr/>
    </dgm:pt>
    <dgm:pt modelId="{D8BE7691-D5FE-4C12-AD04-7F57E21B94CD}" type="pres">
      <dgm:prSet presAssocID="{3DD2A93A-E0D2-4272-B21A-8A26B5A7283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AF452AE-C101-4569-A655-EDB807F4448C}" type="pres">
      <dgm:prSet presAssocID="{3DD2A93A-E0D2-4272-B21A-8A26B5A7283E}" presName="childText" presStyleLbl="revTx" presStyleIdx="0" presStyleCnt="2">
        <dgm:presLayoutVars>
          <dgm:bulletEnabled val="1"/>
        </dgm:presLayoutVars>
      </dgm:prSet>
      <dgm:spPr/>
    </dgm:pt>
    <dgm:pt modelId="{892BAA1F-5678-4750-8B3F-C673934F65E8}" type="pres">
      <dgm:prSet presAssocID="{20562E22-A8D0-42F3-9DE3-BD55693F165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2156981-F513-4DCA-93AA-0196E0FAACCB}" type="pres">
      <dgm:prSet presAssocID="{20562E22-A8D0-42F3-9DE3-BD55693F165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E16081E-95D4-4904-BE95-D431147C23E0}" type="presOf" srcId="{52DCACA8-9FC2-4338-80DF-2A903B5E4729}" destId="{92156981-F513-4DCA-93AA-0196E0FAACCB}" srcOrd="0" destOrd="0" presId="urn:microsoft.com/office/officeart/2005/8/layout/vList2"/>
    <dgm:cxn modelId="{9F1FB621-541F-4AB8-A348-8F9306D145C5}" type="presOf" srcId="{8D0E9CA2-63EE-4ACB-A4C2-000095CEE059}" destId="{8AF452AE-C101-4569-A655-EDB807F4448C}" srcOrd="0" destOrd="0" presId="urn:microsoft.com/office/officeart/2005/8/layout/vList2"/>
    <dgm:cxn modelId="{F7C1D33E-B4E4-4327-AE3A-6429A6F3853F}" srcId="{3DD2A93A-E0D2-4272-B21A-8A26B5A7283E}" destId="{DB43453E-1B5E-4D28-9A00-52EC074320E5}" srcOrd="4" destOrd="0" parTransId="{94221E02-228C-41FA-BF00-6913DC0D9F92}" sibTransId="{9B464BDC-2478-4E11-AE2D-75113DBBB279}"/>
    <dgm:cxn modelId="{C696BD51-5F59-48CC-A8D5-8972F3295BE3}" type="presOf" srcId="{3DD2A93A-E0D2-4272-B21A-8A26B5A7283E}" destId="{D8BE7691-D5FE-4C12-AD04-7F57E21B94CD}" srcOrd="0" destOrd="0" presId="urn:microsoft.com/office/officeart/2005/8/layout/vList2"/>
    <dgm:cxn modelId="{C8F70E5B-B02F-4DAF-993F-C420733CD2AF}" srcId="{20562E22-A8D0-42F3-9DE3-BD55693F1655}" destId="{FD3A3D5A-E86D-4329-8746-1E235BAB2678}" srcOrd="2" destOrd="0" parTransId="{746EB43E-AD46-458D-BC6B-7A7F27C6C3EA}" sibTransId="{D9E5CB63-BD2C-438C-BA85-538C13C09C58}"/>
    <dgm:cxn modelId="{C77B5476-23F3-45F2-B441-423DE0A9D4ED}" type="presOf" srcId="{3365A5D5-0AE4-4AA5-9733-BAB16C653635}" destId="{22B7140D-1B7F-4E4E-B5BF-4B21D874DE59}" srcOrd="0" destOrd="0" presId="urn:microsoft.com/office/officeart/2005/8/layout/vList2"/>
    <dgm:cxn modelId="{2DD2B87F-B8CB-4188-A8E8-B8C4025E647F}" type="presOf" srcId="{F9B449DF-9853-449E-BBDE-7DD3B3E312B3}" destId="{8AF452AE-C101-4569-A655-EDB807F4448C}" srcOrd="0" destOrd="5" presId="urn:microsoft.com/office/officeart/2005/8/layout/vList2"/>
    <dgm:cxn modelId="{F764F697-2BE0-4D26-9482-02B4FCF2C80C}" srcId="{3365A5D5-0AE4-4AA5-9733-BAB16C653635}" destId="{20562E22-A8D0-42F3-9DE3-BD55693F1655}" srcOrd="1" destOrd="0" parTransId="{DA893B66-9AD6-44AB-B3EB-C4D3F96F1F9C}" sibTransId="{B3F62E04-9DA7-4DBF-92EC-C8D8FE66DF1B}"/>
    <dgm:cxn modelId="{F19FB09F-C669-49A4-817C-3EBB3EA54D30}" srcId="{3DD2A93A-E0D2-4272-B21A-8A26B5A7283E}" destId="{8D0E9CA2-63EE-4ACB-A4C2-000095CEE059}" srcOrd="0" destOrd="0" parTransId="{407D03B3-2303-4040-90D4-6CB27B73F9A7}" sibTransId="{68F8A53F-6348-4978-9F4B-02576ECF22A4}"/>
    <dgm:cxn modelId="{400F94A2-6F70-4105-B400-63A191E01A1F}" type="presOf" srcId="{DCF8A4A5-5833-46F3-952D-C1A422516EFA}" destId="{8AF452AE-C101-4569-A655-EDB807F4448C}" srcOrd="0" destOrd="3" presId="urn:microsoft.com/office/officeart/2005/8/layout/vList2"/>
    <dgm:cxn modelId="{896D50AB-6E2F-4800-BFBB-A0A2F4F08B6C}" type="presOf" srcId="{E0C8B08C-3826-4FAC-824C-C40B037C36B6}" destId="{8AF452AE-C101-4569-A655-EDB807F4448C}" srcOrd="0" destOrd="6" presId="urn:microsoft.com/office/officeart/2005/8/layout/vList2"/>
    <dgm:cxn modelId="{4D9409AF-F611-4E21-9E22-6AAAB59C772C}" srcId="{3DD2A93A-E0D2-4272-B21A-8A26B5A7283E}" destId="{F9B449DF-9853-449E-BBDE-7DD3B3E312B3}" srcOrd="5" destOrd="0" parTransId="{1B69A6EC-CD93-43BC-B9E2-A96EA6467865}" sibTransId="{83B21A8C-1712-49E6-B043-50784C13C54C}"/>
    <dgm:cxn modelId="{D01009B0-A077-45E8-8C15-51AD47B46B9E}" srcId="{3DD2A93A-E0D2-4272-B21A-8A26B5A7283E}" destId="{DCF8A4A5-5833-46F3-952D-C1A422516EFA}" srcOrd="3" destOrd="0" parTransId="{50191ED2-0A35-4CAD-B661-F425515C9797}" sibTransId="{D11D4917-5207-49D9-8265-69F4D6BA5899}"/>
    <dgm:cxn modelId="{D744B9BA-CCAC-4E7D-9314-429BD27CE78A}" type="presOf" srcId="{630A73B3-16E9-42FB-910C-03CE4F9515A6}" destId="{92156981-F513-4DCA-93AA-0196E0FAACCB}" srcOrd="0" destOrd="1" presId="urn:microsoft.com/office/officeart/2005/8/layout/vList2"/>
    <dgm:cxn modelId="{419D4BC1-F9CE-4197-9C0F-8DF350C99682}" srcId="{3DD2A93A-E0D2-4272-B21A-8A26B5A7283E}" destId="{FA89CE80-584D-4FCC-980B-291993451521}" srcOrd="1" destOrd="0" parTransId="{9B292BC3-4959-4005-8D10-3AEE1FABA7B7}" sibTransId="{A1049918-7F09-44A7-A5BA-62A7B98BCB30}"/>
    <dgm:cxn modelId="{5AFC1AC6-13DE-4154-83D1-910E9930392D}" srcId="{20562E22-A8D0-42F3-9DE3-BD55693F1655}" destId="{52DCACA8-9FC2-4338-80DF-2A903B5E4729}" srcOrd="0" destOrd="0" parTransId="{90E0A94C-99B2-414A-8C1F-C62F1470985F}" sibTransId="{11152747-69B1-4D1C-8E29-F064CDAA30B4}"/>
    <dgm:cxn modelId="{4C768CC7-5ADE-4508-ADBE-5FA02085F0F7}" type="presOf" srcId="{DB43453E-1B5E-4D28-9A00-52EC074320E5}" destId="{8AF452AE-C101-4569-A655-EDB807F4448C}" srcOrd="0" destOrd="4" presId="urn:microsoft.com/office/officeart/2005/8/layout/vList2"/>
    <dgm:cxn modelId="{1EE4F8D3-494D-47F6-BE27-0C4FB0009562}" type="presOf" srcId="{20562E22-A8D0-42F3-9DE3-BD55693F1655}" destId="{892BAA1F-5678-4750-8B3F-C673934F65E8}" srcOrd="0" destOrd="0" presId="urn:microsoft.com/office/officeart/2005/8/layout/vList2"/>
    <dgm:cxn modelId="{2873AFD4-4D8D-4AAD-8E6F-18EA0E135660}" srcId="{20562E22-A8D0-42F3-9DE3-BD55693F1655}" destId="{630A73B3-16E9-42FB-910C-03CE4F9515A6}" srcOrd="1" destOrd="0" parTransId="{D2290533-EC56-4E23-A564-A32A34F0F6DC}" sibTransId="{718335BF-58D2-4412-A317-7B58D1707C57}"/>
    <dgm:cxn modelId="{00A437D5-2067-4681-9DBF-5C2E22221B45}" type="presOf" srcId="{9F33A61F-2AF9-45F5-979B-DB87119E5C8A}" destId="{8AF452AE-C101-4569-A655-EDB807F4448C}" srcOrd="0" destOrd="2" presId="urn:microsoft.com/office/officeart/2005/8/layout/vList2"/>
    <dgm:cxn modelId="{711ADBD6-3B25-4814-8840-A399EFC005D4}" srcId="{3DD2A93A-E0D2-4272-B21A-8A26B5A7283E}" destId="{E0C8B08C-3826-4FAC-824C-C40B037C36B6}" srcOrd="6" destOrd="0" parTransId="{C7113E2D-C92E-4FB3-B328-10370A909A5C}" sibTransId="{5CDD336F-9437-4839-9761-8603B9C5152C}"/>
    <dgm:cxn modelId="{8247C1DE-1BC6-435F-9EC0-7E2F7810C0A7}" type="presOf" srcId="{FA89CE80-584D-4FCC-980B-291993451521}" destId="{8AF452AE-C101-4569-A655-EDB807F4448C}" srcOrd="0" destOrd="1" presId="urn:microsoft.com/office/officeart/2005/8/layout/vList2"/>
    <dgm:cxn modelId="{46A950EC-1BE7-4A6A-96FA-8E9FFF2F1A2F}" srcId="{3365A5D5-0AE4-4AA5-9733-BAB16C653635}" destId="{3DD2A93A-E0D2-4272-B21A-8A26B5A7283E}" srcOrd="0" destOrd="0" parTransId="{EC2A51D8-038A-409C-BEA6-44D4F2A7080C}" sibTransId="{E948CE97-F235-415D-ABA5-7031815FB3F1}"/>
    <dgm:cxn modelId="{FD6D51F0-81EF-4862-8D98-3661B452ED2A}" srcId="{3DD2A93A-E0D2-4272-B21A-8A26B5A7283E}" destId="{9F33A61F-2AF9-45F5-979B-DB87119E5C8A}" srcOrd="2" destOrd="0" parTransId="{8BBF6923-7CE7-46BF-9426-59A7A9E1B692}" sibTransId="{291F4E1D-D788-4814-A31E-3AB9DBEC536A}"/>
    <dgm:cxn modelId="{840E6DF2-5F57-42B4-91B3-D2116CAE965A}" type="presOf" srcId="{FD3A3D5A-E86D-4329-8746-1E235BAB2678}" destId="{92156981-F513-4DCA-93AA-0196E0FAACCB}" srcOrd="0" destOrd="2" presId="urn:microsoft.com/office/officeart/2005/8/layout/vList2"/>
    <dgm:cxn modelId="{68DD3572-3EB3-411E-A4E3-91A4CE315D1F}" type="presParOf" srcId="{22B7140D-1B7F-4E4E-B5BF-4B21D874DE59}" destId="{D8BE7691-D5FE-4C12-AD04-7F57E21B94CD}" srcOrd="0" destOrd="0" presId="urn:microsoft.com/office/officeart/2005/8/layout/vList2"/>
    <dgm:cxn modelId="{85A7E034-C131-472E-857D-2841BC3E4FB4}" type="presParOf" srcId="{22B7140D-1B7F-4E4E-B5BF-4B21D874DE59}" destId="{8AF452AE-C101-4569-A655-EDB807F4448C}" srcOrd="1" destOrd="0" presId="urn:microsoft.com/office/officeart/2005/8/layout/vList2"/>
    <dgm:cxn modelId="{270E4547-163B-407F-8378-33ACB6A122D0}" type="presParOf" srcId="{22B7140D-1B7F-4E4E-B5BF-4B21D874DE59}" destId="{892BAA1F-5678-4750-8B3F-C673934F65E8}" srcOrd="2" destOrd="0" presId="urn:microsoft.com/office/officeart/2005/8/layout/vList2"/>
    <dgm:cxn modelId="{24AE8783-C5BC-4004-A0E6-416BEDC06992}" type="presParOf" srcId="{22B7140D-1B7F-4E4E-B5BF-4B21D874DE59}" destId="{92156981-F513-4DCA-93AA-0196E0FAACC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356EB-F548-407C-8436-A984D71E166D}">
      <dsp:nvSpPr>
        <dsp:cNvPr id="0" name=""/>
        <dsp:cNvSpPr/>
      </dsp:nvSpPr>
      <dsp:spPr>
        <a:xfrm>
          <a:off x="0" y="73358"/>
          <a:ext cx="10515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Models:</a:t>
          </a:r>
          <a:endParaRPr lang="en-US" sz="2800" kern="1200"/>
        </a:p>
      </dsp:txBody>
      <dsp:txXfrm>
        <a:off x="32784" y="106142"/>
        <a:ext cx="10450032" cy="606012"/>
      </dsp:txXfrm>
    </dsp:sp>
    <dsp:sp modelId="{FF4AAFB9-FCEA-4E10-8611-132B9FCEF034}">
      <dsp:nvSpPr>
        <dsp:cNvPr id="0" name=""/>
        <dsp:cNvSpPr/>
      </dsp:nvSpPr>
      <dsp:spPr>
        <a:xfrm>
          <a:off x="0" y="825578"/>
          <a:ext cx="10515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• ExplainableBoostingClassifier (interpretable boosting model)</a:t>
          </a:r>
          <a:endParaRPr lang="en-US" sz="2800" kern="1200"/>
        </a:p>
      </dsp:txBody>
      <dsp:txXfrm>
        <a:off x="32784" y="858362"/>
        <a:ext cx="10450032" cy="606012"/>
      </dsp:txXfrm>
    </dsp:sp>
    <dsp:sp modelId="{F9423F0A-E4B4-4AA4-8791-2B812BBCC965}">
      <dsp:nvSpPr>
        <dsp:cNvPr id="0" name=""/>
        <dsp:cNvSpPr/>
      </dsp:nvSpPr>
      <dsp:spPr>
        <a:xfrm>
          <a:off x="0" y="1577799"/>
          <a:ext cx="10515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• XGBClassifier (gradient boosted trees) with SHAP explanations</a:t>
          </a:r>
          <a:endParaRPr lang="en-US" sz="2800" kern="1200"/>
        </a:p>
      </dsp:txBody>
      <dsp:txXfrm>
        <a:off x="32784" y="1610583"/>
        <a:ext cx="10450032" cy="606012"/>
      </dsp:txXfrm>
    </dsp:sp>
    <dsp:sp modelId="{B6EB995E-E676-4F59-B9E1-8950E3F77A0F}">
      <dsp:nvSpPr>
        <dsp:cNvPr id="0" name=""/>
        <dsp:cNvSpPr/>
      </dsp:nvSpPr>
      <dsp:spPr>
        <a:xfrm>
          <a:off x="0" y="2249379"/>
          <a:ext cx="10515600" cy="2028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Metrics (per seed): accuracy, ROC-AUC, F1, precision, recall, confusion matrix, and Brier score.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Stability: Repeat training for N_SEEDS times, compute global feature importance for each run, then:</a:t>
          </a:r>
          <a:br>
            <a:rPr lang="en-IN" sz="2200" kern="1200"/>
          </a:br>
          <a:r>
            <a:rPr lang="en-IN" sz="2200" kern="1200"/>
            <a:t>• Measure variance of importance per feature</a:t>
          </a:r>
          <a:br>
            <a:rPr lang="en-IN" sz="2200" kern="1200"/>
          </a:br>
          <a:endParaRPr lang="en-US" sz="2200" kern="1200"/>
        </a:p>
      </dsp:txBody>
      <dsp:txXfrm>
        <a:off x="0" y="2249379"/>
        <a:ext cx="10515600" cy="2028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72B36A-D96B-E24A-B527-36E9173F76B6}">
      <dsp:nvSpPr>
        <dsp:cNvPr id="0" name=""/>
        <dsp:cNvSpPr/>
      </dsp:nvSpPr>
      <dsp:spPr>
        <a:xfrm>
          <a:off x="961120" y="2079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XGBoost+SHAP - features with HIGHEST variance (least stable) </a:t>
          </a:r>
        </a:p>
      </dsp:txBody>
      <dsp:txXfrm>
        <a:off x="961120" y="2079"/>
        <a:ext cx="2094322" cy="1256593"/>
      </dsp:txXfrm>
    </dsp:sp>
    <dsp:sp modelId="{E3DFA4D8-46D4-5C44-BD0D-050C16AEDB54}">
      <dsp:nvSpPr>
        <dsp:cNvPr id="0" name=""/>
        <dsp:cNvSpPr/>
      </dsp:nvSpPr>
      <dsp:spPr>
        <a:xfrm>
          <a:off x="3264875" y="2079"/>
          <a:ext cx="2094322" cy="1256593"/>
        </a:xfrm>
        <a:prstGeom prst="rect">
          <a:avLst/>
        </a:prstGeom>
        <a:solidFill>
          <a:schemeClr val="accent2">
            <a:hueOff val="-132306"/>
            <a:satOff val="-7630"/>
            <a:lumOff val="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feature	variance_across_seeds</a:t>
          </a:r>
        </a:p>
      </dsp:txBody>
      <dsp:txXfrm>
        <a:off x="3264875" y="2079"/>
        <a:ext cx="2094322" cy="1256593"/>
      </dsp:txXfrm>
    </dsp:sp>
    <dsp:sp modelId="{C3CE55CA-AD93-BA45-BA70-B3BC39342364}">
      <dsp:nvSpPr>
        <dsp:cNvPr id="0" name=""/>
        <dsp:cNvSpPr/>
      </dsp:nvSpPr>
      <dsp:spPr>
        <a:xfrm>
          <a:off x="5568630" y="2079"/>
          <a:ext cx="2094322" cy="1256593"/>
        </a:xfrm>
        <a:prstGeom prst="rect">
          <a:avLst/>
        </a:prstGeom>
        <a:solidFill>
          <a:schemeClr val="accent2">
            <a:hueOff val="-264611"/>
            <a:satOff val="-15260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9	active	1.207692e-07</a:t>
          </a:r>
        </a:p>
      </dsp:txBody>
      <dsp:txXfrm>
        <a:off x="5568630" y="2079"/>
        <a:ext cx="2094322" cy="1256593"/>
      </dsp:txXfrm>
    </dsp:sp>
    <dsp:sp modelId="{44298834-1AAF-2E4E-A602-6FFD4C888527}">
      <dsp:nvSpPr>
        <dsp:cNvPr id="0" name=""/>
        <dsp:cNvSpPr/>
      </dsp:nvSpPr>
      <dsp:spPr>
        <a:xfrm>
          <a:off x="7872385" y="2079"/>
          <a:ext cx="2094322" cy="1256593"/>
        </a:xfrm>
        <a:prstGeom prst="rect">
          <a:avLst/>
        </a:prstGeom>
        <a:solidFill>
          <a:schemeClr val="accent2">
            <a:hueOff val="-396917"/>
            <a:satOff val="-22889"/>
            <a:lumOff val="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6	gluc	1.262253e-07</a:t>
          </a:r>
        </a:p>
      </dsp:txBody>
      <dsp:txXfrm>
        <a:off x="7872385" y="2079"/>
        <a:ext cx="2094322" cy="1256593"/>
      </dsp:txXfrm>
    </dsp:sp>
    <dsp:sp modelId="{189205C4-2779-9D4A-9952-4B5DA7A253C2}">
      <dsp:nvSpPr>
        <dsp:cNvPr id="0" name=""/>
        <dsp:cNvSpPr/>
      </dsp:nvSpPr>
      <dsp:spPr>
        <a:xfrm>
          <a:off x="961120" y="1468105"/>
          <a:ext cx="2094322" cy="1256593"/>
        </a:xfrm>
        <a:prstGeom prst="rect">
          <a:avLst/>
        </a:prstGeom>
        <a:solidFill>
          <a:schemeClr val="accent2">
            <a:hueOff val="-529223"/>
            <a:satOff val="-30519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0	gender	3.298869e-07</a:t>
          </a:r>
        </a:p>
      </dsp:txBody>
      <dsp:txXfrm>
        <a:off x="961120" y="1468105"/>
        <a:ext cx="2094322" cy="1256593"/>
      </dsp:txXfrm>
    </dsp:sp>
    <dsp:sp modelId="{E511BAAD-4F5C-7F4F-86F1-56FD5685E1A1}">
      <dsp:nvSpPr>
        <dsp:cNvPr id="0" name=""/>
        <dsp:cNvSpPr/>
      </dsp:nvSpPr>
      <dsp:spPr>
        <a:xfrm>
          <a:off x="3264875" y="1468105"/>
          <a:ext cx="2094322" cy="1256593"/>
        </a:xfrm>
        <a:prstGeom prst="rect">
          <a:avLst/>
        </a:prstGeom>
        <a:solidFill>
          <a:schemeClr val="accent2">
            <a:hueOff val="-661529"/>
            <a:satOff val="-38149"/>
            <a:lumOff val="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	cholesterol	8.279221e-07</a:t>
          </a:r>
        </a:p>
      </dsp:txBody>
      <dsp:txXfrm>
        <a:off x="3264875" y="1468105"/>
        <a:ext cx="2094322" cy="1256593"/>
      </dsp:txXfrm>
    </dsp:sp>
    <dsp:sp modelId="{C88EAE6E-04FB-0047-BCB6-C0B92B9EE812}">
      <dsp:nvSpPr>
        <dsp:cNvPr id="0" name=""/>
        <dsp:cNvSpPr/>
      </dsp:nvSpPr>
      <dsp:spPr>
        <a:xfrm>
          <a:off x="5568630" y="1468105"/>
          <a:ext cx="2094322" cy="1256593"/>
        </a:xfrm>
        <a:prstGeom prst="rect">
          <a:avLst/>
        </a:prstGeom>
        <a:solidFill>
          <a:schemeClr val="accent2">
            <a:hueOff val="-793834"/>
            <a:satOff val="-45779"/>
            <a:lumOff val="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	height	9.729462e-07</a:t>
          </a:r>
        </a:p>
      </dsp:txBody>
      <dsp:txXfrm>
        <a:off x="5568630" y="1468105"/>
        <a:ext cx="2094322" cy="1256593"/>
      </dsp:txXfrm>
    </dsp:sp>
    <dsp:sp modelId="{F136CD63-E3FB-A443-9E6E-FFA42002D0AB}">
      <dsp:nvSpPr>
        <dsp:cNvPr id="0" name=""/>
        <dsp:cNvSpPr/>
      </dsp:nvSpPr>
      <dsp:spPr>
        <a:xfrm>
          <a:off x="7872385" y="1468105"/>
          <a:ext cx="2094322" cy="1256593"/>
        </a:xfrm>
        <a:prstGeom prst="rect">
          <a:avLst/>
        </a:prstGeom>
        <a:solidFill>
          <a:schemeClr val="accent2">
            <a:hueOff val="-926140"/>
            <a:satOff val="-53409"/>
            <a:lumOff val="54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10	age_years	1.168913e-06</a:t>
          </a:r>
        </a:p>
      </dsp:txBody>
      <dsp:txXfrm>
        <a:off x="7872385" y="1468105"/>
        <a:ext cx="2094322" cy="1256593"/>
      </dsp:txXfrm>
    </dsp:sp>
    <dsp:sp modelId="{4217C3CD-7B84-8246-ABDB-8A3BA97E434B}">
      <dsp:nvSpPr>
        <dsp:cNvPr id="0" name=""/>
        <dsp:cNvSpPr/>
      </dsp:nvSpPr>
      <dsp:spPr>
        <a:xfrm>
          <a:off x="961120" y="2934131"/>
          <a:ext cx="2094322" cy="1256593"/>
        </a:xfrm>
        <a:prstGeom prst="rect">
          <a:avLst/>
        </a:prstGeom>
        <a:solidFill>
          <a:schemeClr val="accent2">
            <a:hueOff val="-1058446"/>
            <a:satOff val="-61039"/>
            <a:lumOff val="62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11	BMI	2.827599e-06</a:t>
          </a:r>
        </a:p>
      </dsp:txBody>
      <dsp:txXfrm>
        <a:off x="961120" y="2934131"/>
        <a:ext cx="2094322" cy="1256593"/>
      </dsp:txXfrm>
    </dsp:sp>
    <dsp:sp modelId="{63D0C959-FE80-4D4D-8961-D63EAB0E34F7}">
      <dsp:nvSpPr>
        <dsp:cNvPr id="0" name=""/>
        <dsp:cNvSpPr/>
      </dsp:nvSpPr>
      <dsp:spPr>
        <a:xfrm>
          <a:off x="3264875" y="2934131"/>
          <a:ext cx="2094322" cy="1256593"/>
        </a:xfrm>
        <a:prstGeom prst="rect">
          <a:avLst/>
        </a:prstGeom>
        <a:solidFill>
          <a:schemeClr val="accent2">
            <a:hueOff val="-1190752"/>
            <a:satOff val="-68668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	weight	3.302994e-06</a:t>
          </a:r>
        </a:p>
      </dsp:txBody>
      <dsp:txXfrm>
        <a:off x="3264875" y="2934131"/>
        <a:ext cx="2094322" cy="1256593"/>
      </dsp:txXfrm>
    </dsp:sp>
    <dsp:sp modelId="{831500EB-62EF-9141-B310-A4529941BE38}">
      <dsp:nvSpPr>
        <dsp:cNvPr id="0" name=""/>
        <dsp:cNvSpPr/>
      </dsp:nvSpPr>
      <dsp:spPr>
        <a:xfrm>
          <a:off x="5568630" y="2934131"/>
          <a:ext cx="2094322" cy="1256593"/>
        </a:xfrm>
        <a:prstGeom prst="rect">
          <a:avLst/>
        </a:prstGeom>
        <a:solidFill>
          <a:schemeClr val="accent2">
            <a:hueOff val="-1323057"/>
            <a:satOff val="-76298"/>
            <a:lumOff val="784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	ap_lo	8.054466e-05</a:t>
          </a:r>
        </a:p>
      </dsp:txBody>
      <dsp:txXfrm>
        <a:off x="5568630" y="2934131"/>
        <a:ext cx="2094322" cy="1256593"/>
      </dsp:txXfrm>
    </dsp:sp>
    <dsp:sp modelId="{23E8369C-DA55-584D-A0B8-F885E315380A}">
      <dsp:nvSpPr>
        <dsp:cNvPr id="0" name=""/>
        <dsp:cNvSpPr/>
      </dsp:nvSpPr>
      <dsp:spPr>
        <a:xfrm>
          <a:off x="7872385" y="2934131"/>
          <a:ext cx="2094322" cy="125659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	ap_hi	9.958568e-05</a:t>
          </a:r>
        </a:p>
      </dsp:txBody>
      <dsp:txXfrm>
        <a:off x="7872385" y="2934131"/>
        <a:ext cx="2094322" cy="12565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E7691-D5FE-4C12-AD04-7F57E21B94CD}">
      <dsp:nvSpPr>
        <dsp:cNvPr id="0" name=""/>
        <dsp:cNvSpPr/>
      </dsp:nvSpPr>
      <dsp:spPr>
        <a:xfrm>
          <a:off x="0" y="44482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Positive correlations → Higher risk of cardiovascular disease</a:t>
          </a:r>
        </a:p>
      </dsp:txBody>
      <dsp:txXfrm>
        <a:off x="36296" y="80778"/>
        <a:ext cx="10443008" cy="670943"/>
      </dsp:txXfrm>
    </dsp:sp>
    <dsp:sp modelId="{8AF452AE-C101-4569-A655-EDB807F4448C}">
      <dsp:nvSpPr>
        <dsp:cNvPr id="0" name=""/>
        <dsp:cNvSpPr/>
      </dsp:nvSpPr>
      <dsp:spPr>
        <a:xfrm>
          <a:off x="0" y="788017"/>
          <a:ext cx="10515600" cy="2887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Examples (stronger to weaker):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cholesterol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gluc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age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ap_hi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ap_lo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These match real clinical risk factors</a:t>
          </a:r>
        </a:p>
      </dsp:txBody>
      <dsp:txXfrm>
        <a:off x="0" y="788017"/>
        <a:ext cx="10515600" cy="2887649"/>
      </dsp:txXfrm>
    </dsp:sp>
    <dsp:sp modelId="{892BAA1F-5678-4750-8B3F-C673934F65E8}">
      <dsp:nvSpPr>
        <dsp:cNvPr id="0" name=""/>
        <dsp:cNvSpPr/>
      </dsp:nvSpPr>
      <dsp:spPr>
        <a:xfrm>
          <a:off x="0" y="3675667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Near-zero correlations → Little to no linear relationship</a:t>
          </a:r>
        </a:p>
      </dsp:txBody>
      <dsp:txXfrm>
        <a:off x="36296" y="3711963"/>
        <a:ext cx="10443008" cy="670943"/>
      </dsp:txXfrm>
    </dsp:sp>
    <dsp:sp modelId="{92156981-F513-4DCA-93AA-0196E0FAACCB}">
      <dsp:nvSpPr>
        <dsp:cNvPr id="0" name=""/>
        <dsp:cNvSpPr/>
      </dsp:nvSpPr>
      <dsp:spPr>
        <a:xfrm>
          <a:off x="0" y="4419202"/>
          <a:ext cx="10515600" cy="1251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active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alco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smoke</a:t>
          </a:r>
        </a:p>
      </dsp:txBody>
      <dsp:txXfrm>
        <a:off x="0" y="4419202"/>
        <a:ext cx="10515600" cy="12513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402BF-F921-4A17-B42F-02ABEF8F80BD}" type="datetimeFigureOut">
              <a:rPr lang="en-IN" smtClean="0"/>
              <a:t>05/12/25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B6CEC-958A-4380-82E4-E4D38900F00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B6CEC-958A-4380-82E4-E4D38900F00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213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93B6-08A0-4BF7-ADE8-DAF2E7D501DC}" type="datetimeFigureOut">
              <a:rPr lang="en-IN" smtClean="0"/>
              <a:t>05/12/25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81E5-E7A6-4D45-95C6-DB7FA4921A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93B6-08A0-4BF7-ADE8-DAF2E7D501DC}" type="datetimeFigureOut">
              <a:rPr lang="en-IN" smtClean="0"/>
              <a:t>05/12/25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81E5-E7A6-4D45-95C6-DB7FA4921A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93B6-08A0-4BF7-ADE8-DAF2E7D501DC}" type="datetimeFigureOut">
              <a:rPr lang="en-IN" smtClean="0"/>
              <a:t>05/12/25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81E5-E7A6-4D45-95C6-DB7FA4921A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93B6-08A0-4BF7-ADE8-DAF2E7D501DC}" type="datetimeFigureOut">
              <a:rPr lang="en-IN" smtClean="0"/>
              <a:t>05/12/25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81E5-E7A6-4D45-95C6-DB7FA4921A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93B6-08A0-4BF7-ADE8-DAF2E7D501DC}" type="datetimeFigureOut">
              <a:rPr lang="en-IN" smtClean="0"/>
              <a:t>05/12/25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81E5-E7A6-4D45-95C6-DB7FA4921A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93B6-08A0-4BF7-ADE8-DAF2E7D501DC}" type="datetimeFigureOut">
              <a:rPr lang="en-IN" smtClean="0"/>
              <a:t>05/12/25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81E5-E7A6-4D45-95C6-DB7FA4921A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93B6-08A0-4BF7-ADE8-DAF2E7D501DC}" type="datetimeFigureOut">
              <a:rPr lang="en-IN" smtClean="0"/>
              <a:t>05/12/25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81E5-E7A6-4D45-95C6-DB7FA4921A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93B6-08A0-4BF7-ADE8-DAF2E7D501DC}" type="datetimeFigureOut">
              <a:rPr lang="en-IN" smtClean="0"/>
              <a:t>05/12/25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81E5-E7A6-4D45-95C6-DB7FA4921A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93B6-08A0-4BF7-ADE8-DAF2E7D501DC}" type="datetimeFigureOut">
              <a:rPr lang="en-IN" smtClean="0"/>
              <a:t>05/12/25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81E5-E7A6-4D45-95C6-DB7FA4921A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93B6-08A0-4BF7-ADE8-DAF2E7D501DC}" type="datetimeFigureOut">
              <a:rPr lang="en-IN" smtClean="0"/>
              <a:t>05/12/25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81E5-E7A6-4D45-95C6-DB7FA4921A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93B6-08A0-4BF7-ADE8-DAF2E7D501DC}" type="datetimeFigureOut">
              <a:rPr lang="en-IN" smtClean="0"/>
              <a:t>05/12/25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81E5-E7A6-4D45-95C6-DB7FA4921A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A93B6-08A0-4BF7-ADE8-DAF2E7D501DC}" type="datetimeFigureOut">
              <a:rPr lang="en-IN" smtClean="0"/>
              <a:t>05/12/25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E81E5-E7A6-4D45-95C6-DB7FA4921A4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616" y="686792"/>
            <a:ext cx="6259451" cy="1172286"/>
          </a:xfrm>
        </p:spPr>
        <p:txBody>
          <a:bodyPr anchor="t"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Risk Prediction with Stable Explanations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9365" y="4722000"/>
            <a:ext cx="5120717" cy="1916359"/>
          </a:xfrm>
        </p:spPr>
        <p:txBody>
          <a:bodyPr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Shruthi Reddy Vudem</a:t>
            </a:r>
          </a:p>
          <a:p>
            <a:pPr algn="l">
              <a:lnSpc>
                <a:spcPct val="1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Graphic 20" descr="Heart Organ">
            <a:extLst>
              <a:ext uri="{FF2B5EF4-FFF2-40B4-BE49-F238E27FC236}">
                <a16:creationId xmlns:a16="http://schemas.microsoft.com/office/drawing/2014/main" id="{D73A2161-4661-1797-DA45-CEC9AFD22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58ED4B6-F18C-1CEA-3995-8067DE89DF25}"/>
              </a:ext>
            </a:extLst>
          </p:cNvPr>
          <p:cNvSpPr/>
          <p:nvPr/>
        </p:nvSpPr>
        <p:spPr>
          <a:xfrm>
            <a:off x="1234912" y="2815833"/>
            <a:ext cx="3597306" cy="984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HDS-5330-03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 : Bahareh Rahmani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765" y="1132174"/>
            <a:ext cx="9362815" cy="5494118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Goal: Build an AI model to predict cardiovascular disease risk and study how stable its explanations are when training conditions change.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Context: Cardiovascular disease is a leading global cause of death. Clinicians need not only accurate predictions, but also reliable and stable explanations.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Rationale: If feature importance changes a lot across random seeds, clinicians may not trust the model. We compare an Explainable Boosting Machine (EBM) and </a:t>
            </a:r>
            <a:r>
              <a:rPr lang="en-US" sz="2800" dirty="0" err="1">
                <a:solidFill>
                  <a:schemeClr val="tx2"/>
                </a:solidFill>
              </a:rPr>
              <a:t>XGBoost</a:t>
            </a:r>
            <a:r>
              <a:rPr lang="en-US" sz="2800" dirty="0">
                <a:solidFill>
                  <a:schemeClr val="tx2"/>
                </a:solidFill>
              </a:rPr>
              <a:t> with SHAP explanations.</a:t>
            </a:r>
          </a:p>
          <a:p>
            <a:endParaRPr lang="en-IN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2"/>
                </a:solidFill>
              </a:rPr>
              <a:t>              Study Design &amp; Data</a:t>
            </a:r>
            <a:br>
              <a:rPr lang="en-IN" sz="3600" dirty="0">
                <a:solidFill>
                  <a:schemeClr val="tx2"/>
                </a:solidFill>
              </a:rPr>
            </a:br>
            <a:endParaRPr lang="en-IN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5951" y="195519"/>
            <a:ext cx="6557473" cy="5839522"/>
          </a:xfrm>
        </p:spPr>
        <p:txBody>
          <a:bodyPr anchor="ctr">
            <a:normAutofit/>
          </a:bodyPr>
          <a:lstStyle/>
          <a:p>
            <a:r>
              <a:rPr lang="en-IN" sz="2400" dirty="0">
                <a:solidFill>
                  <a:schemeClr val="tx2"/>
                </a:solidFill>
              </a:rPr>
              <a:t>Dataset: Public cardiovascular risk dataset (cardio_train.csv).</a:t>
            </a:r>
          </a:p>
          <a:p>
            <a:pPr lvl="1"/>
            <a:r>
              <a:rPr lang="en-IN" dirty="0">
                <a:solidFill>
                  <a:schemeClr val="tx2"/>
                </a:solidFill>
              </a:rPr>
              <a:t>Features: Demographics (age, gender), vital signs (blood pressure), and lab values (cholesterol, glucose), with a binary target cardio (0/1).</a:t>
            </a:r>
          </a:p>
          <a:p>
            <a:pPr lvl="1"/>
            <a:r>
              <a:rPr lang="en-IN" dirty="0">
                <a:solidFill>
                  <a:schemeClr val="tx2"/>
                </a:solidFill>
              </a:rPr>
              <a:t>Design: Single train/test split (80/20, stratified), median imputation, and feature engineering followed by:</a:t>
            </a:r>
            <a:br>
              <a:rPr lang="en-IN" dirty="0">
                <a:solidFill>
                  <a:schemeClr val="tx2"/>
                </a:solidFill>
              </a:rPr>
            </a:br>
            <a:r>
              <a:rPr lang="en-IN" dirty="0">
                <a:solidFill>
                  <a:schemeClr val="tx2"/>
                </a:solidFill>
              </a:rPr>
              <a:t>• </a:t>
            </a:r>
            <a:r>
              <a:rPr lang="en-IN" dirty="0" err="1">
                <a:solidFill>
                  <a:schemeClr val="tx2"/>
                </a:solidFill>
              </a:rPr>
              <a:t>ExplainableBoostingClassifier</a:t>
            </a:r>
            <a:r>
              <a:rPr lang="en-IN" dirty="0">
                <a:solidFill>
                  <a:schemeClr val="tx2"/>
                </a:solidFill>
              </a:rPr>
              <a:t> (EBM)</a:t>
            </a:r>
            <a:br>
              <a:rPr lang="en-IN" dirty="0">
                <a:solidFill>
                  <a:schemeClr val="tx2"/>
                </a:solidFill>
              </a:rPr>
            </a:br>
            <a:r>
              <a:rPr lang="en-IN" dirty="0">
                <a:solidFill>
                  <a:schemeClr val="tx2"/>
                </a:solidFill>
              </a:rPr>
              <a:t>• </a:t>
            </a:r>
            <a:r>
              <a:rPr lang="en-IN" dirty="0" err="1">
                <a:solidFill>
                  <a:schemeClr val="tx2"/>
                </a:solidFill>
              </a:rPr>
              <a:t>XGBoost</a:t>
            </a:r>
            <a:r>
              <a:rPr lang="en-IN" dirty="0">
                <a:solidFill>
                  <a:schemeClr val="tx2"/>
                </a:solidFill>
              </a:rPr>
              <a:t> + SHAP feature importance</a:t>
            </a:r>
            <a:br>
              <a:rPr lang="en-IN" dirty="0">
                <a:solidFill>
                  <a:schemeClr val="tx2"/>
                </a:solidFill>
              </a:rPr>
            </a:br>
            <a:r>
              <a:rPr lang="en-IN" dirty="0">
                <a:solidFill>
                  <a:schemeClr val="tx2"/>
                </a:solidFill>
              </a:rPr>
              <a:t>both run across multiple random seeds.</a:t>
            </a:r>
          </a:p>
          <a:p>
            <a:endParaRPr lang="en-IN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7618"/>
          </a:xfrm>
        </p:spPr>
        <p:txBody>
          <a:bodyPr>
            <a:normAutofit fontScale="90000"/>
          </a:bodyPr>
          <a:lstStyle/>
          <a:p>
            <a:r>
              <a:rPr lang="en-IN"/>
              <a:t>         Modeling Approach &amp; Stability Analysis</a:t>
            </a:r>
            <a:br>
              <a:rPr lang="en-IN"/>
            </a:br>
            <a:endParaRPr lang="en-IN" dirty="0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81313499-DDA8-600B-32C6-6CB04239D6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en-US" sz="4000">
                <a:solidFill>
                  <a:srgbClr val="FFFFFF"/>
                </a:solidFill>
                <a:sym typeface="+mn-ea"/>
              </a:rPr>
              <a:t>EBM - features with LOWEST variance </a:t>
            </a:r>
            <a:r>
              <a:rPr lang="en-IN" altLang="en-US" sz="4000">
                <a:solidFill>
                  <a:srgbClr val="FFFFFF"/>
                </a:solidFill>
                <a:sym typeface="+mn-ea"/>
              </a:rPr>
              <a:t>-</a:t>
            </a:r>
            <a:r>
              <a:rPr lang="en-US" altLang="en-US" sz="4000" u="sng">
                <a:solidFill>
                  <a:srgbClr val="FFFFFF"/>
                </a:solidFill>
                <a:sym typeface="+mn-ea"/>
              </a:rPr>
              <a:t>most stable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altLang="en-US" sz="2000"/>
              <a:t>feature	variance_across_seeds</a:t>
            </a:r>
          </a:p>
          <a:p>
            <a:r>
              <a:rPr lang="en-US" altLang="en-US" sz="2000"/>
              <a:t>9	active	1.439146e-11</a:t>
            </a:r>
          </a:p>
          <a:p>
            <a:r>
              <a:rPr lang="en-US" altLang="en-US" sz="2000"/>
              <a:t>0	gender	1.991545e-11</a:t>
            </a:r>
          </a:p>
          <a:p>
            <a:r>
              <a:rPr lang="en-US" altLang="en-US" sz="2000"/>
              <a:t>7	smoke	3.264190e-11</a:t>
            </a:r>
          </a:p>
          <a:p>
            <a:r>
              <a:rPr lang="en-US" altLang="en-US" sz="2000"/>
              <a:t>8	alco	1.308805e-10</a:t>
            </a:r>
          </a:p>
          <a:p>
            <a:r>
              <a:rPr lang="en-US" altLang="en-US" sz="2000"/>
              <a:t>5	cholesterol	2.160728e-10</a:t>
            </a:r>
          </a:p>
          <a:p>
            <a:r>
              <a:rPr lang="en-US" altLang="en-US" sz="2000"/>
              <a:t>6	gluc	2.657832e-10</a:t>
            </a:r>
          </a:p>
          <a:p>
            <a:r>
              <a:rPr lang="en-US" altLang="en-US" sz="2000"/>
              <a:t>1	height	4.620823e-07</a:t>
            </a:r>
          </a:p>
          <a:p>
            <a:r>
              <a:rPr lang="en-US" altLang="en-US" sz="2000"/>
              <a:t>3	ap_hi	1.438624e-06</a:t>
            </a:r>
          </a:p>
          <a:p>
            <a:r>
              <a:rPr lang="en-US" altLang="en-US" sz="2000"/>
              <a:t>2	weight	2.146274e-06</a:t>
            </a:r>
          </a:p>
          <a:p>
            <a:r>
              <a:rPr lang="en-US" altLang="en-US" sz="2000"/>
              <a:t>4	ap_lo	3.756391e-06</a:t>
            </a:r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altLang="en-US" sz="3700">
                <a:solidFill>
                  <a:srgbClr val="FFFFFF"/>
                </a:solidFill>
                <a:sym typeface="+mn-ea"/>
              </a:rPr>
              <a:t> XGBoost+SHAP - features with LOWEST variance </a:t>
            </a:r>
            <a:r>
              <a:rPr lang="en-IN" altLang="en-US" sz="3700">
                <a:solidFill>
                  <a:srgbClr val="FFFFFF"/>
                </a:solidFill>
                <a:sym typeface="+mn-ea"/>
              </a:rPr>
              <a:t>-</a:t>
            </a:r>
            <a:r>
              <a:rPr lang="en-US" altLang="en-US" sz="3700" u="sng">
                <a:solidFill>
                  <a:srgbClr val="FFFFFF"/>
                </a:solidFill>
                <a:sym typeface="+mn-ea"/>
              </a:rPr>
              <a:t>most stable</a:t>
            </a:r>
            <a:endParaRPr lang="en-IN" sz="3700" u="sng">
              <a:solidFill>
                <a:srgbClr val="FFFFFF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altLang="en-US" sz="2200"/>
              <a:t> XGBoost+SHAP - features with LOWEST variance (most stable) </a:t>
            </a:r>
          </a:p>
          <a:p>
            <a:r>
              <a:rPr lang="en-US" altLang="en-US" sz="2200"/>
              <a:t>feature	variance_across_seeds</a:t>
            </a:r>
          </a:p>
          <a:p>
            <a:r>
              <a:rPr lang="en-US" altLang="en-US" sz="2200"/>
              <a:t>8	alco	6.583055e-08</a:t>
            </a:r>
          </a:p>
          <a:p>
            <a:r>
              <a:rPr lang="en-US" altLang="en-US" sz="2200"/>
              <a:t>7	smoke	1.092101e-07</a:t>
            </a:r>
          </a:p>
          <a:p>
            <a:r>
              <a:rPr lang="en-US" altLang="en-US" sz="2200"/>
              <a:t>9	active	1.207692e-07</a:t>
            </a:r>
          </a:p>
          <a:p>
            <a:r>
              <a:rPr lang="en-US" altLang="en-US" sz="2200"/>
              <a:t>6	gluc	1.262253e-07</a:t>
            </a:r>
          </a:p>
          <a:p>
            <a:r>
              <a:rPr lang="en-US" altLang="en-US" sz="2200"/>
              <a:t>0	gender	3.298869e-07</a:t>
            </a:r>
          </a:p>
          <a:p>
            <a:r>
              <a:rPr lang="en-US" altLang="en-US" sz="2200"/>
              <a:t>5	cholesterol	8.279221e-07</a:t>
            </a:r>
          </a:p>
          <a:p>
            <a:r>
              <a:rPr lang="en-US" altLang="en-US" sz="2200"/>
              <a:t>1	height	9.729462e-07</a:t>
            </a:r>
          </a:p>
          <a:p>
            <a:r>
              <a:rPr lang="en-US" altLang="en-US" sz="2200"/>
              <a:t>10	age_years	1.168913e-06</a:t>
            </a:r>
          </a:p>
          <a:p>
            <a:r>
              <a:rPr lang="en-US" altLang="en-US" sz="2200"/>
              <a:t>11	BMI	2.827599e-06</a:t>
            </a:r>
          </a:p>
          <a:p>
            <a:r>
              <a:rPr lang="en-US" altLang="en-US" sz="2200"/>
              <a:t>2	weight	3.302994e-06</a:t>
            </a:r>
          </a:p>
          <a:p>
            <a:endParaRPr lang="en-US" altLang="en-US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en-US" sz="4000">
                <a:solidFill>
                  <a:srgbClr val="FFFFFF"/>
                </a:solidFill>
                <a:sym typeface="+mn-ea"/>
              </a:rPr>
              <a:t> EBM - features with HIGHEST variance </a:t>
            </a:r>
            <a:r>
              <a:rPr lang="en-IN" altLang="en-US" sz="4000">
                <a:solidFill>
                  <a:srgbClr val="FFFFFF"/>
                </a:solidFill>
                <a:sym typeface="+mn-ea"/>
              </a:rPr>
              <a:t>-</a:t>
            </a:r>
            <a:r>
              <a:rPr lang="en-US" altLang="en-US" sz="4000" u="sng">
                <a:solidFill>
                  <a:srgbClr val="FFFFFF"/>
                </a:solidFill>
                <a:sym typeface="+mn-ea"/>
              </a:rPr>
              <a:t>least stable</a:t>
            </a:r>
            <a:endParaRPr lang="en-IN" sz="4000" u="sng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altLang="en-US" sz="2000"/>
          </a:p>
          <a:p>
            <a:r>
              <a:rPr lang="en-US" altLang="en-US" sz="2000"/>
              <a:t>feature	variance_across_seeds</a:t>
            </a:r>
          </a:p>
          <a:p>
            <a:r>
              <a:rPr lang="en-US" altLang="en-US" sz="2000"/>
              <a:t>7	smoke	3.264190e-11</a:t>
            </a:r>
          </a:p>
          <a:p>
            <a:r>
              <a:rPr lang="en-US" altLang="en-US" sz="2000"/>
              <a:t>8	alco	1.308805e-10</a:t>
            </a:r>
          </a:p>
          <a:p>
            <a:r>
              <a:rPr lang="en-US" altLang="en-US" sz="2000"/>
              <a:t>5	cholesterol	2.160728e-10</a:t>
            </a:r>
          </a:p>
          <a:p>
            <a:r>
              <a:rPr lang="en-US" altLang="en-US" sz="2000"/>
              <a:t>6	gluc	2.657832e-10</a:t>
            </a:r>
          </a:p>
          <a:p>
            <a:r>
              <a:rPr lang="en-US" altLang="en-US" sz="2000"/>
              <a:t>1	height	4.620823e-07</a:t>
            </a:r>
          </a:p>
          <a:p>
            <a:r>
              <a:rPr lang="en-US" altLang="en-US" sz="2000"/>
              <a:t>3	ap_hi	1.438624e-06</a:t>
            </a:r>
          </a:p>
          <a:p>
            <a:r>
              <a:rPr lang="en-US" altLang="en-US" sz="2000"/>
              <a:t>2	weight	2.146274e-06</a:t>
            </a:r>
          </a:p>
          <a:p>
            <a:r>
              <a:rPr lang="en-US" altLang="en-US" sz="2000"/>
              <a:t>4	ap_lo	3.756391e-06</a:t>
            </a:r>
          </a:p>
          <a:p>
            <a:r>
              <a:rPr lang="en-US" altLang="en-US" sz="2000"/>
              <a:t>10	age_years	8.615941e-06</a:t>
            </a:r>
          </a:p>
          <a:p>
            <a:r>
              <a:rPr lang="en-US" altLang="en-US" sz="2000"/>
              <a:t>11	BMI	1.554541e-05</a:t>
            </a:r>
          </a:p>
          <a:p>
            <a:endParaRPr lang="en-US" alt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6626225" y="19665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altLang="en-US" sz="3100">
                <a:solidFill>
                  <a:srgbClr val="FFFFFF"/>
                </a:solidFill>
                <a:sym typeface="+mn-ea"/>
              </a:rPr>
              <a:t>XGBoost+SHAP - features with HIGHEST variance</a:t>
            </a:r>
            <a:r>
              <a:rPr lang="en-IN" altLang="en-US" sz="3100">
                <a:solidFill>
                  <a:srgbClr val="FFFFFF"/>
                </a:solidFill>
                <a:sym typeface="+mn-ea"/>
              </a:rPr>
              <a:t> -</a:t>
            </a:r>
            <a:r>
              <a:rPr lang="en-US" altLang="en-US" sz="3100">
                <a:solidFill>
                  <a:srgbClr val="FFFFFF"/>
                </a:solidFill>
                <a:sym typeface="+mn-ea"/>
              </a:rPr>
              <a:t> </a:t>
            </a:r>
            <a:r>
              <a:rPr lang="en-US" altLang="en-US" sz="3100" u="sng">
                <a:solidFill>
                  <a:srgbClr val="FFFFFF"/>
                </a:solidFill>
                <a:sym typeface="+mn-ea"/>
              </a:rPr>
              <a:t>least stable</a:t>
            </a:r>
            <a:endParaRPr lang="en-US" sz="3100" u="sng">
              <a:solidFill>
                <a:srgbClr val="FFFFFF"/>
              </a:solidFill>
            </a:endParaRP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E94A3050-F6EC-E5F7-811F-9BC665C08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723862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output"/>
          <p:cNvPicPr>
            <a:picLocks noGrp="1" noChangeAspect="1"/>
          </p:cNvPicPr>
          <p:nvPr>
            <p:ph idx="1"/>
          </p:nvPr>
        </p:nvPicPr>
        <p:blipFill>
          <a:blip r:embed="rId2"/>
          <a:srcRect b="7149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altLang="en-US" sz="3700">
                <a:solidFill>
                  <a:srgbClr val="FFFFFF"/>
                </a:solidFill>
              </a:rPr>
              <a:t>CORRELATION HEAT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Strong correlations you can visually observe:</a:t>
            </a: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ap_hi ↔ ap_lo</a:t>
            </a: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Blood pressure systolic and diastolic are naturally positively correlated.</a:t>
            </a: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weight ↔ height</a:t>
            </a: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Expected anthropometric relationship.</a:t>
            </a: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cardio ↔ cholesterol / gluc</a:t>
            </a: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Higher cholesterol and glucose correlate with higher cardiovascular disease risk.</a:t>
            </a: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age ↔ cardio</a:t>
            </a: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Age shows moderate positive correlation with cardiovascular outcomes.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output (1)"/>
          <p:cNvPicPr>
            <a:picLocks noChangeAspect="1"/>
          </p:cNvPicPr>
          <p:nvPr/>
        </p:nvPicPr>
        <p:blipFill>
          <a:blip r:embed="rId2"/>
          <a:srcRect l="2302" r="10768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473" y="2950387"/>
            <a:ext cx="3401028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altLang="en-US" sz="4000" b="1" dirty="0">
                <a:solidFill>
                  <a:srgbClr val="FFFFFF"/>
                </a:solidFill>
              </a:rPr>
              <a:t>Forest plot -feature correlation with</a:t>
            </a:r>
            <a:br>
              <a:rPr lang="en-US" altLang="en-US" sz="4000" b="1" dirty="0">
                <a:solidFill>
                  <a:srgbClr val="FFFFFF"/>
                </a:solidFill>
              </a:rPr>
            </a:br>
            <a:r>
              <a:rPr lang="en-US" altLang="en-US" sz="4000" b="1" dirty="0">
                <a:solidFill>
                  <a:srgbClr val="FFFFFF"/>
                </a:solidFill>
              </a:rPr>
              <a:t>cardiovascular disease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85CF47-0EC8-D5E1-6F70-124D522735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462280"/>
          <a:ext cx="10515600" cy="571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IN" sz="3200">
                <a:solidFill>
                  <a:srgbClr val="FFFFFF"/>
                </a:solidFill>
              </a:rPr>
              <a:t>              Main Findings &amp; Outputs</a:t>
            </a:r>
            <a:br>
              <a:rPr lang="en-IN" sz="3200">
                <a:solidFill>
                  <a:srgbClr val="FFFFFF"/>
                </a:solidFill>
              </a:rPr>
            </a:br>
            <a:endParaRPr lang="en-IN" sz="32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474" y="2308124"/>
            <a:ext cx="10835326" cy="3673576"/>
          </a:xfrm>
        </p:spPr>
        <p:txBody>
          <a:bodyPr>
            <a:normAutofit/>
          </a:bodyPr>
          <a:lstStyle/>
          <a:p>
            <a:r>
              <a:rPr lang="en-US" dirty="0"/>
              <a:t>Across 20 random seeds, both EBM and </a:t>
            </a:r>
            <a:r>
              <a:rPr lang="en-US" dirty="0" err="1"/>
              <a:t>XGBoost</a:t>
            </a:r>
            <a:r>
              <a:rPr lang="en-US" dirty="0"/>
              <a:t> achieved strong and consistent predictive performance (good ROC-AUC, accuracy, and F1).</a:t>
            </a:r>
            <a:br>
              <a:rPr lang="en-US" dirty="0"/>
            </a:br>
            <a:endParaRPr lang="en-US" dirty="0"/>
          </a:p>
          <a:p>
            <a:pPr lvl="1"/>
            <a:r>
              <a:rPr lang="en-US" sz="2800" dirty="0"/>
              <a:t>Global feature importance was highly stable, with mean Spearman rank correlation ≈ 1.0 for EBM and ≈ 0.997 for </a:t>
            </a:r>
            <a:r>
              <a:rPr lang="en-US" sz="2800" dirty="0" err="1"/>
              <a:t>XGBoost+SHAP</a:t>
            </a:r>
            <a:r>
              <a:rPr lang="en-US" sz="2800" dirty="0"/>
              <a:t> across seeds.</a:t>
            </a:r>
          </a:p>
          <a:p>
            <a:pPr lvl="1"/>
            <a:r>
              <a:rPr lang="en-US" sz="2800" dirty="0"/>
              <a:t>Physiological features like age, blood pressure, and cholesterol consistently appeared as top predictors in both models.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IN" sz="3200">
                <a:solidFill>
                  <a:srgbClr val="FFFFFF"/>
                </a:solidFill>
              </a:rPr>
              <a:t>       Key Takeaways &amp; Clinical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462" y="2308124"/>
            <a:ext cx="10689996" cy="3673576"/>
          </a:xfrm>
        </p:spPr>
        <p:txBody>
          <a:bodyPr>
            <a:normAutofit/>
          </a:bodyPr>
          <a:lstStyle/>
          <a:p>
            <a:r>
              <a:rPr lang="en-US" sz="2000" dirty="0"/>
              <a:t>The model is not only accurate but also produces stable feature importance rankings, which is critical for clinical trust.</a:t>
            </a:r>
            <a:br>
              <a:rPr lang="en-US" sz="2000" dirty="0"/>
            </a:br>
            <a:endParaRPr lang="en-US" sz="2000" dirty="0"/>
          </a:p>
          <a:p>
            <a:pPr lvl="1"/>
            <a:r>
              <a:rPr lang="en-US" sz="2000" dirty="0"/>
              <a:t>Stable explanations mean clinicians can repeatedly see the same core risk factors (e.g., age, blood pressure), making the model easier to interpret and explain to patients.</a:t>
            </a:r>
            <a:br>
              <a:rPr lang="en-US" sz="2000" dirty="0"/>
            </a:br>
            <a:endParaRPr lang="en-US" sz="2000" dirty="0"/>
          </a:p>
          <a:p>
            <a:pPr lvl="1"/>
            <a:r>
              <a:rPr lang="en-US" sz="2000" dirty="0"/>
              <a:t>This framework can be extended into a clinical tool that flags high-risk patients in the EHR and provides transparent, consistent risk drivers at the bedside.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857</Words>
  <Application>Microsoft Macintosh PowerPoint</Application>
  <PresentationFormat>Widescreen</PresentationFormat>
  <Paragraphs>100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Cardiovascular Risk Prediction with Stable Explanations</vt:lpstr>
      <vt:lpstr>PowerPoint Presentation</vt:lpstr>
      <vt:lpstr>              Study Design &amp; Data </vt:lpstr>
      <vt:lpstr>         Modeling Approach &amp; Stability Analysis </vt:lpstr>
      <vt:lpstr>EBM - features with LOWEST variance -most stable</vt:lpstr>
      <vt:lpstr> XGBoost+SHAP - features with LOWEST variance -most stable</vt:lpstr>
      <vt:lpstr> EBM - features with HIGHEST variance -least stable</vt:lpstr>
      <vt:lpstr>XGBoost+SHAP - features with HIGHEST variance - least stable</vt:lpstr>
      <vt:lpstr>CORRELATION HEAT MAP</vt:lpstr>
      <vt:lpstr>PowerPoint Presentation</vt:lpstr>
      <vt:lpstr>Forest plot -feature correlation with cardiovascular disease </vt:lpstr>
      <vt:lpstr>PowerPoint Presentation</vt:lpstr>
      <vt:lpstr>              Main Findings &amp; Outputs </vt:lpstr>
      <vt:lpstr>       Key Takeaways &amp; Clinical Implications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thandra saisri rao</dc:creator>
  <cp:lastModifiedBy>Shruthi Reddy Vudem</cp:lastModifiedBy>
  <cp:revision>5</cp:revision>
  <dcterms:created xsi:type="dcterms:W3CDTF">2025-12-04T00:54:00Z</dcterms:created>
  <dcterms:modified xsi:type="dcterms:W3CDTF">2025-12-05T17:09:25Z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A5B9E8EF28384D559306031EE3DCB220_13</vt:lpwstr>
  </property>
  <property fmtid="{D5CDD505-2E9C-101B-9397-08002B2CF9AE}" pid="3" name="KSOProductBuildVer">
    <vt:lpwstr>1033-12.2.0.23155</vt:lpwstr>
  </property>
</Properties>
</file>